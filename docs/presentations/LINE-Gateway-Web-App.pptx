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6" r:id="rId14"/>
    <p:sldId id="297" r:id="rId15"/>
    <p:sldId id="282" r:id="rId16"/>
    <p:sldId id="298" r:id="rId17"/>
  </p:sldIdLst>
  <p:sldSz cx="9144000" cy="5143500" type="screen16x9"/>
  <p:notesSz cx="5143500" cy="9144000"/>
  <p:embeddedFontLst>
    <p:embeddedFont>
      <p:font typeface="Noto Serif" panose="02020600060500020200" pitchFamily="18" charset="0"/>
      <p:regular r:id="rId19"/>
      <p:bold r:id="rId20"/>
      <p:italic r:id="rId21"/>
    </p:embeddedFont>
    <p:embeddedFont>
      <p:font typeface="Noto Serif Medium" panose="02020500000000000000" charset="0"/>
      <p:regular r:id="rId22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760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96119" y="100853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LINE Gateway × Web App 系統規劃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96119" y="1951211"/>
            <a:ext cx="373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工程視角 v4(口語化版)</a:t>
            </a:r>
          </a:p>
        </p:txBody>
      </p:sp>
      <p:sp>
        <p:nvSpPr>
          <p:cNvPr id="7" name="Text 3"/>
          <p:cNvSpPr/>
          <p:nvPr/>
        </p:nvSpPr>
        <p:spPr>
          <a:xfrm>
            <a:off x="496119" y="2512814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報告人：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Max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（LINE Gateway 開發）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96119" y="3093988"/>
            <a:ext cx="26456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日期：2026 年 5 月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035201" y="2544738"/>
            <a:ext cx="63296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9C928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25019" y="2591991"/>
            <a:ext cx="9105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v4</a:t>
            </a:r>
          </a:p>
        </p:txBody>
      </p:sp>
      <p:sp>
        <p:nvSpPr>
          <p:cNvPr id="11" name="Shape 7"/>
          <p:cNvSpPr/>
          <p:nvPr/>
        </p:nvSpPr>
        <p:spPr>
          <a:xfrm>
            <a:off x="3739009" y="2544738"/>
            <a:ext cx="591964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9C928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28827" y="2591991"/>
            <a:ext cx="86952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共 18 頁</a:t>
            </a:r>
          </a:p>
        </p:txBody>
      </p:sp>
      <p:sp>
        <p:nvSpPr>
          <p:cNvPr id="13" name="Shape 9"/>
          <p:cNvSpPr/>
          <p:nvPr/>
        </p:nvSpPr>
        <p:spPr>
          <a:xfrm>
            <a:off x="3035201" y="2891507"/>
            <a:ext cx="127515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9C928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25019" y="2938760"/>
            <a:ext cx="155272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5/8 設計同學對照會議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035201" y="3326904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這份是 5/8 對齊會議的工程版本。LINE、Web App、廟方後端要怎麼分工,我把我這邊想到的整理在這裡。如果跟你的設計版本有不同,我們對一下。</a:t>
            </a:r>
          </a:p>
        </p:txBody>
      </p:sp>
    </p:spTree>
    <p:extLst>
      <p:ext uri="{BB962C8B-B14F-4D97-AF65-F5344CB8AC3E}">
        <p14:creationId xmlns:p14="http://schemas.microsoft.com/office/powerpoint/2010/main" val="81008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925119" y="471264"/>
            <a:ext cx="396552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我們現在卡在三個問題</a:t>
            </a:r>
          </a:p>
        </p:txBody>
      </p:sp>
      <p:sp>
        <p:nvSpPr>
          <p:cNvPr id="6" name="Text 2"/>
          <p:cNvSpPr/>
          <p:nvPr/>
        </p:nvSpPr>
        <p:spPr>
          <a:xfrm>
            <a:off x="4116437" y="1171352"/>
            <a:ext cx="498864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原本只有 LINE。現在多了 Web App,要重新分工一下。</a:t>
            </a:r>
          </a:p>
        </p:txBody>
      </p:sp>
      <p:sp>
        <p:nvSpPr>
          <p:cNvPr id="7" name="Shape 3"/>
          <p:cNvSpPr/>
          <p:nvPr/>
        </p:nvSpPr>
        <p:spPr>
          <a:xfrm>
            <a:off x="3925119" y="1042169"/>
            <a:ext cx="14288" cy="452289"/>
          </a:xfrm>
          <a:prstGeom prst="rect">
            <a:avLst/>
          </a:prstGeom>
          <a:solidFill>
            <a:srgbClr val="9C9283"/>
          </a:solidFill>
          <a:ln/>
        </p:spPr>
      </p:sp>
      <p:sp>
        <p:nvSpPr>
          <p:cNvPr id="8" name="Shape 4"/>
          <p:cNvSpPr/>
          <p:nvPr/>
        </p:nvSpPr>
        <p:spPr>
          <a:xfrm>
            <a:off x="3925119" y="1623640"/>
            <a:ext cx="4722763" cy="939626"/>
          </a:xfrm>
          <a:prstGeom prst="roundRect">
            <a:avLst>
              <a:gd name="adj" fmla="val 5703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65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939406" y="1637928"/>
            <a:ext cx="510332" cy="911051"/>
          </a:xfrm>
          <a:prstGeom prst="roundRect">
            <a:avLst>
              <a:gd name="adj" fmla="val 7141"/>
            </a:avLst>
          </a:prstGeom>
          <a:solidFill>
            <a:srgbClr val="E6DED2">
              <a:alpha val="50000"/>
            </a:srgbClr>
          </a:solidFill>
          <a:ln/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867894" y="1973833"/>
            <a:ext cx="419919" cy="239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64559" y="1765474"/>
            <a:ext cx="3099197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LINE 跟 Web App 邊界在哪?</a:t>
            </a:r>
          </a:p>
        </p:txBody>
      </p:sp>
      <p:sp>
        <p:nvSpPr>
          <p:cNvPr id="12" name="Text 8"/>
          <p:cNvSpPr/>
          <p:nvPr/>
        </p:nvSpPr>
        <p:spPr>
          <a:xfrm>
            <a:off x="4564559" y="2033588"/>
            <a:ext cx="3941490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之前的計畫是「所有事都在 LINE 完成」。但 Web App 已經做得很好了——3D 參拜、廟宇介紹、神明速查都在裡面。那 LINE 還要做什麼?要重新想。</a:t>
            </a:r>
          </a:p>
        </p:txBody>
      </p:sp>
      <p:sp>
        <p:nvSpPr>
          <p:cNvPr id="13" name="Shape 9"/>
          <p:cNvSpPr/>
          <p:nvPr/>
        </p:nvSpPr>
        <p:spPr>
          <a:xfrm>
            <a:off x="3925119" y="2678088"/>
            <a:ext cx="4722763" cy="939626"/>
          </a:xfrm>
          <a:prstGeom prst="roundRect">
            <a:avLst>
              <a:gd name="adj" fmla="val 5703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65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939406" y="2692375"/>
            <a:ext cx="510332" cy="911051"/>
          </a:xfrm>
          <a:prstGeom prst="roundRect">
            <a:avLst>
              <a:gd name="adj" fmla="val 7141"/>
            </a:avLst>
          </a:prstGeom>
          <a:solidFill>
            <a:srgbClr val="E6DED2">
              <a:alpha val="50000"/>
            </a:srgbClr>
          </a:solidFill>
          <a:ln/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867894" y="3028280"/>
            <a:ext cx="419919" cy="239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64559" y="2819921"/>
            <a:ext cx="236993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每個功能該放哪?</a:t>
            </a:r>
          </a:p>
        </p:txBody>
      </p:sp>
      <p:sp>
        <p:nvSpPr>
          <p:cNvPr id="17" name="Text 13"/>
          <p:cNvSpPr/>
          <p:nvPr/>
        </p:nvSpPr>
        <p:spPr>
          <a:xfrm>
            <a:off x="4564559" y="3088035"/>
            <a:ext cx="3941490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神明速查放 LINE 還是 Web App?報名表單在哪填?訂閱(關注一間廟)要怎麼運作?每個功能都得選一個地方,選錯了就會重複做、或互相打架。</a:t>
            </a:r>
          </a:p>
        </p:txBody>
      </p:sp>
      <p:sp>
        <p:nvSpPr>
          <p:cNvPr id="18" name="Shape 14"/>
          <p:cNvSpPr/>
          <p:nvPr/>
        </p:nvSpPr>
        <p:spPr>
          <a:xfrm>
            <a:off x="3925119" y="3732535"/>
            <a:ext cx="4722763" cy="939626"/>
          </a:xfrm>
          <a:prstGeom prst="roundRect">
            <a:avLst>
              <a:gd name="adj" fmla="val 5703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65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939406" y="3746822"/>
            <a:ext cx="510332" cy="911051"/>
          </a:xfrm>
          <a:prstGeom prst="roundRect">
            <a:avLst>
              <a:gd name="adj" fmla="val 7141"/>
            </a:avLst>
          </a:prstGeom>
          <a:solidFill>
            <a:srgbClr val="E6DED2">
              <a:alpha val="50000"/>
            </a:srgbClr>
          </a:solidFill>
          <a:ln/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867894" y="4082728"/>
            <a:ext cx="419919" cy="239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564559" y="3874368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三方系統怎麼說話?</a:t>
            </a:r>
          </a:p>
        </p:txBody>
      </p:sp>
      <p:sp>
        <p:nvSpPr>
          <p:cNvPr id="22" name="Text 18"/>
          <p:cNvSpPr/>
          <p:nvPr/>
        </p:nvSpPr>
        <p:spPr>
          <a:xfrm>
            <a:off x="4564559" y="4142482"/>
            <a:ext cx="3941490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LINE、Web App、廟方後端是三個獨立系統。資料存哪裡?誰負責通知信眾?信眾的帳號怎麼跨系統認得他?這些是工程要處理的細節。</a:t>
            </a:r>
          </a:p>
        </p:txBody>
      </p:sp>
    </p:spTree>
    <p:extLst>
      <p:ext uri="{BB962C8B-B14F-4D97-AF65-F5344CB8AC3E}">
        <p14:creationId xmlns:p14="http://schemas.microsoft.com/office/powerpoint/2010/main" val="1536973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101" y="325710"/>
            <a:ext cx="3192810" cy="34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先講結論:LINE 像招牌、Web App 是店、TEP 是倉庫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01" y="889248"/>
            <a:ext cx="3833589" cy="383358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01" y="889248"/>
            <a:ext cx="3833589" cy="383358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11700" y="1016000"/>
            <a:ext cx="4038600" cy="1397000"/>
          </a:xfrm>
          <a:prstGeom prst="roundRect">
            <a:avLst>
              <a:gd name="adj" fmla="val 10424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2"/>
          <p:cNvSpPr/>
          <p:nvPr/>
        </p:nvSpPr>
        <p:spPr>
          <a:xfrm>
            <a:off x="4699000" y="1016000"/>
            <a:ext cx="63500" cy="1397000"/>
          </a:xfrm>
          <a:prstGeom prst="roundRect">
            <a:avLst>
              <a:gd name="adj" fmla="val 8041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3"/>
          <p:cNvSpPr/>
          <p:nvPr/>
        </p:nvSpPr>
        <p:spPr>
          <a:xfrm>
            <a:off x="4876800" y="1143000"/>
            <a:ext cx="37465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① LINE 是 Web App 的「招牌」</a:t>
            </a:r>
          </a:p>
        </p:txBody>
      </p:sp>
      <p:sp>
        <p:nvSpPr>
          <p:cNvPr id="8" name="Text 4"/>
          <p:cNvSpPr/>
          <p:nvPr/>
        </p:nvSpPr>
        <p:spPr>
          <a:xfrm>
            <a:off x="4876800" y="1397000"/>
            <a:ext cx="374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想想星巴克的 LINE——你不會在 LINE 裡買咖啡,但每次它推新品,卡片都做得讓你想點進去。我們也是這樣:信眾在 LINE 看到漂亮的活動卡片,點一下就跳進 Web App 看完整內容、報名、瀏覽。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原則:少推但精,不為了存在感而推。</a:t>
            </a:r>
          </a:p>
        </p:txBody>
      </p:sp>
      <p:sp>
        <p:nvSpPr>
          <p:cNvPr id="9" name="Shape 5"/>
          <p:cNvSpPr/>
          <p:nvPr/>
        </p:nvSpPr>
        <p:spPr>
          <a:xfrm>
            <a:off x="4711700" y="2540000"/>
            <a:ext cx="4038600" cy="914400"/>
          </a:xfrm>
          <a:prstGeom prst="roundRect">
            <a:avLst>
              <a:gd name="adj" fmla="val 8435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6"/>
          <p:cNvSpPr/>
          <p:nvPr/>
        </p:nvSpPr>
        <p:spPr>
          <a:xfrm>
            <a:off x="4699000" y="2540000"/>
            <a:ext cx="63500" cy="914400"/>
          </a:xfrm>
          <a:prstGeom prst="roundRect">
            <a:avLst>
              <a:gd name="adj" fmla="val 8041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4876800" y="2667000"/>
            <a:ext cx="37465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② Web App 是「店」本身</a:t>
            </a:r>
          </a:p>
        </p:txBody>
      </p:sp>
      <p:sp>
        <p:nvSpPr>
          <p:cNvPr id="12" name="Text 8"/>
          <p:cNvSpPr/>
          <p:nvPr/>
        </p:nvSpPr>
        <p:spPr>
          <a:xfrm>
            <a:off x="4876800" y="2921000"/>
            <a:ext cx="3746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所有真正能逛、能看、能做的事都在這。神明速查、廟宇介紹、3D 參拜引導、報名表單——全部都在 Web App 完成。</a:t>
            </a:r>
          </a:p>
        </p:txBody>
      </p:sp>
      <p:sp>
        <p:nvSpPr>
          <p:cNvPr id="13" name="Shape 9"/>
          <p:cNvSpPr/>
          <p:nvPr/>
        </p:nvSpPr>
        <p:spPr>
          <a:xfrm>
            <a:off x="4711700" y="3581400"/>
            <a:ext cx="4038600" cy="1016000"/>
          </a:xfrm>
          <a:prstGeom prst="roundRect">
            <a:avLst>
              <a:gd name="adj" fmla="val 10424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0"/>
          <p:cNvSpPr/>
          <p:nvPr/>
        </p:nvSpPr>
        <p:spPr>
          <a:xfrm>
            <a:off x="4699000" y="3581400"/>
            <a:ext cx="63500" cy="1016000"/>
          </a:xfrm>
          <a:prstGeom prst="roundRect">
            <a:avLst>
              <a:gd name="adj" fmla="val 8041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1"/>
          <p:cNvSpPr/>
          <p:nvPr/>
        </p:nvSpPr>
        <p:spPr>
          <a:xfrm>
            <a:off x="4876800" y="3708400"/>
            <a:ext cx="37465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③ TEP 是「進貨倉庫」(廟方資料源頭)</a:t>
            </a:r>
          </a:p>
        </p:txBody>
      </p:sp>
      <p:sp>
        <p:nvSpPr>
          <p:cNvPr id="16" name="Text 12"/>
          <p:cNvSpPr/>
          <p:nvPr/>
        </p:nvSpPr>
        <p:spPr>
          <a:xfrm>
            <a:off x="4876800" y="3962400"/>
            <a:ext cx="3746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廟宇、活動、報名這些資料,真正的家在 TEP(學長做的廟方後端)。Demo 階段廟方還不會自己上稿,所以是我們代廟方操作。</a:t>
            </a:r>
          </a:p>
        </p:txBody>
      </p:sp>
    </p:spTree>
    <p:extLst>
      <p:ext uri="{BB962C8B-B14F-4D97-AF65-F5344CB8AC3E}">
        <p14:creationId xmlns:p14="http://schemas.microsoft.com/office/powerpoint/2010/main" val="1650418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131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我們現在站在哪裡</a:t>
            </a:r>
          </a:p>
        </p:txBody>
      </p:sp>
      <p:sp>
        <p:nvSpPr>
          <p:cNvPr id="3" name="Shape 1"/>
          <p:cNvSpPr/>
          <p:nvPr/>
        </p:nvSpPr>
        <p:spPr>
          <a:xfrm>
            <a:off x="496119" y="1387822"/>
            <a:ext cx="2622724" cy="3094286"/>
          </a:xfrm>
          <a:prstGeom prst="roundRect">
            <a:avLst>
              <a:gd name="adj" fmla="val 227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2640" y="1534344"/>
            <a:ext cx="25585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LINE Gateway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840855"/>
            <a:ext cx="27868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目前完成八成</a:t>
            </a:r>
          </a:p>
        </p:txBody>
      </p:sp>
      <p:sp>
        <p:nvSpPr>
          <p:cNvPr id="6" name="Text 4"/>
          <p:cNvSpPr/>
          <p:nvPr/>
        </p:nvSpPr>
        <p:spPr>
          <a:xfrm>
            <a:off x="642640" y="2152724"/>
            <a:ext cx="27868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已經能做到的事:</a:t>
            </a:r>
          </a:p>
        </p:txBody>
      </p:sp>
      <p:sp>
        <p:nvSpPr>
          <p:cNvPr id="7" name="Text 5"/>
          <p:cNvSpPr/>
          <p:nvPr/>
        </p:nvSpPr>
        <p:spPr>
          <a:xfrm>
            <a:off x="642640" y="2464594"/>
            <a:ext cx="2329681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使用者資料、關注關係、操作紀錄、推播紀錄,這四張表都建好了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平台會通知我們、我們也能回應(Webhook 接通)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能呼叫廟方後端拿資料的程式架構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使用者關注/取消關注一間廟,後端通了</a:t>
            </a:r>
          </a:p>
        </p:txBody>
      </p:sp>
      <p:sp>
        <p:nvSpPr>
          <p:cNvPr id="8" name="Text 6"/>
          <p:cNvSpPr/>
          <p:nvPr/>
        </p:nvSpPr>
        <p:spPr>
          <a:xfrm>
            <a:off x="642640" y="4059213"/>
            <a:ext cx="27868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還沒做的: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活動推播、報名互動、部署</a:t>
            </a:r>
          </a:p>
        </p:txBody>
      </p:sp>
      <p:sp>
        <p:nvSpPr>
          <p:cNvPr id="9" name="Shape 7"/>
          <p:cNvSpPr/>
          <p:nvPr/>
        </p:nvSpPr>
        <p:spPr>
          <a:xfrm>
            <a:off x="3260601" y="1387822"/>
            <a:ext cx="2622724" cy="3094286"/>
          </a:xfrm>
          <a:prstGeom prst="roundRect">
            <a:avLst>
              <a:gd name="adj" fmla="val 227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7122" y="1534344"/>
            <a:ext cx="22966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Web App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7122" y="1840855"/>
            <a:ext cx="27868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同學用 Next.js 做的,已經有測試網站可以看了</a:t>
            </a:r>
          </a:p>
        </p:txBody>
      </p:sp>
      <p:sp>
        <p:nvSpPr>
          <p:cNvPr id="12" name="Text 10"/>
          <p:cNvSpPr/>
          <p:nvPr/>
        </p:nvSpPr>
        <p:spPr>
          <a:xfrm>
            <a:off x="3407122" y="2152724"/>
            <a:ext cx="27868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已經做完的:</a:t>
            </a:r>
          </a:p>
        </p:txBody>
      </p:sp>
      <p:sp>
        <p:nvSpPr>
          <p:cNvPr id="13" name="Text 11"/>
          <p:cNvSpPr/>
          <p:nvPr/>
        </p:nvSpPr>
        <p:spPr>
          <a:xfrm>
            <a:off x="3407122" y="2464594"/>
            <a:ext cx="2329681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神明速查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廟宇詳情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3D 參拜引導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附近廟宇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指南文章</a:t>
            </a:r>
          </a:p>
        </p:txBody>
      </p:sp>
      <p:sp>
        <p:nvSpPr>
          <p:cNvPr id="14" name="Text 12"/>
          <p:cNvSpPr/>
          <p:nvPr/>
        </p:nvSpPr>
        <p:spPr>
          <a:xfrm>
            <a:off x="3407122" y="3881958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還沒做的: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現場資訊、文化歷史、關於我們、加入我們</a:t>
            </a:r>
          </a:p>
        </p:txBody>
      </p:sp>
      <p:sp>
        <p:nvSpPr>
          <p:cNvPr id="15" name="Shape 13"/>
          <p:cNvSpPr/>
          <p:nvPr/>
        </p:nvSpPr>
        <p:spPr>
          <a:xfrm>
            <a:off x="6025083" y="1387822"/>
            <a:ext cx="2622724" cy="3094286"/>
          </a:xfrm>
          <a:prstGeom prst="roundRect">
            <a:avLst>
              <a:gd name="adj" fmla="val 227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1605" y="153434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1605" y="1840855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學長做的廟方後端。廟宇資訊、活動、報名名單都存在這裡。</a:t>
            </a:r>
          </a:p>
        </p:txBody>
      </p:sp>
      <p:sp>
        <p:nvSpPr>
          <p:cNvPr id="18" name="Text 16"/>
          <p:cNvSpPr/>
          <p:nvPr/>
        </p:nvSpPr>
        <p:spPr>
          <a:xfrm>
            <a:off x="6171605" y="2379538"/>
            <a:ext cx="2329681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廟宇資料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活動資料</a:t>
            </a:r>
          </a:p>
          <a:p>
            <a:pPr marL="228600" indent="-2286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報名資料</a:t>
            </a:r>
          </a:p>
        </p:txBody>
      </p:sp>
      <p:sp>
        <p:nvSpPr>
          <p:cNvPr id="19" name="Text 17"/>
          <p:cNvSpPr/>
          <p:nvPr/>
        </p:nvSpPr>
        <p:spPr>
          <a:xfrm>
            <a:off x="6171605" y="3244155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Demo 階段廟方還不會自己上稿,所以活動是我們/學長幫忙鍵入。</a:t>
            </a:r>
          </a:p>
        </p:txBody>
      </p:sp>
    </p:spTree>
    <p:extLst>
      <p:ext uri="{BB962C8B-B14F-4D97-AF65-F5344CB8AC3E}">
        <p14:creationId xmlns:p14="http://schemas.microsoft.com/office/powerpoint/2010/main" val="59907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96119" y="535781"/>
            <a:ext cx="27609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四個核心原則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6119" y="913581"/>
            <a:ext cx="51799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我們做每個決定,都會回到這四條</a:t>
            </a:r>
          </a:p>
        </p:txBody>
      </p:sp>
      <p:sp>
        <p:nvSpPr>
          <p:cNvPr id="7" name="Shape 3"/>
          <p:cNvSpPr/>
          <p:nvPr/>
        </p:nvSpPr>
        <p:spPr>
          <a:xfrm>
            <a:off x="495300" y="1117600"/>
            <a:ext cx="8153400" cy="952500"/>
          </a:xfrm>
          <a:prstGeom prst="roundRect">
            <a:avLst>
              <a:gd name="adj" fmla="val 4655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93006" y="1206500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E6DED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982" y="1282700"/>
            <a:ext cx="124346" cy="1243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3300" y="1524000"/>
            <a:ext cx="704850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單一真實來源（Single Source of Truth）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003300" y="17145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同一筆資料,只有一個系統能改。其他系統想用就跟它要——不要每個系統都存一份,改起來會打架。</a:t>
            </a:r>
          </a:p>
        </p:txBody>
      </p:sp>
      <p:sp>
        <p:nvSpPr>
          <p:cNvPr id="12" name="Shape 7"/>
          <p:cNvSpPr/>
          <p:nvPr/>
        </p:nvSpPr>
        <p:spPr>
          <a:xfrm>
            <a:off x="495300" y="2120900"/>
            <a:ext cx="8153400" cy="952500"/>
          </a:xfrm>
          <a:prstGeom prst="roundRect">
            <a:avLst>
              <a:gd name="adj" fmla="val 4655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93006" y="2209800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E6DED2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982" y="2286000"/>
            <a:ext cx="124346" cy="12434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3300" y="2527300"/>
            <a:ext cx="704850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職責邊界清楚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003300" y="27178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一個功能只做一次,放在最合適的系統。不要 LINE 做一份、Web App 又做一份,維護會崩潰。</a:t>
            </a:r>
          </a:p>
        </p:txBody>
      </p:sp>
      <p:sp>
        <p:nvSpPr>
          <p:cNvPr id="17" name="Shape 11"/>
          <p:cNvSpPr/>
          <p:nvPr/>
        </p:nvSpPr>
        <p:spPr>
          <a:xfrm>
            <a:off x="495300" y="3124200"/>
            <a:ext cx="8153400" cy="952500"/>
          </a:xfrm>
          <a:prstGeom prst="roundRect">
            <a:avLst>
              <a:gd name="adj" fmla="val 4655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93006" y="3213100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E6DED2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982" y="3289300"/>
            <a:ext cx="124346" cy="12434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3300" y="3530600"/>
            <a:ext cx="704850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依資料變動頻率分配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003300" y="37211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常常變的東西(活動、報名)放廟方那邊;比較固定的(神明介紹、拜拜指南)放 Web App;跟 LINE 有關的(誰加好友、誰關注哪間廟)放在 LINE Gateway 這邊。</a:t>
            </a:r>
          </a:p>
        </p:txBody>
      </p:sp>
      <p:sp>
        <p:nvSpPr>
          <p:cNvPr id="22" name="Shape 15"/>
          <p:cNvSpPr/>
          <p:nvPr/>
        </p:nvSpPr>
        <p:spPr>
          <a:xfrm>
            <a:off x="495300" y="4127500"/>
            <a:ext cx="8153400" cy="952500"/>
          </a:xfrm>
          <a:prstGeom prst="roundRect">
            <a:avLst>
              <a:gd name="adj" fmla="val 4655"/>
            </a:avLst>
          </a:prstGeom>
          <a:solidFill>
            <a:srgbClr val="F2EDE5"/>
          </a:solidFill>
          <a:ln w="4763">
            <a:solidFill>
              <a:srgbClr val="E6DED2"/>
            </a:solidFill>
            <a:prstDash val="solid"/>
          </a:ln>
          <a:effectLst>
            <a:outerShdw dist="1143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93006" y="4216400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E6DED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982" y="4292600"/>
            <a:ext cx="124346" cy="12434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3300" y="4533900"/>
            <a:ext cx="704850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以最低耦合連接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003300" y="47244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三方系統只透過 API(系統之間講話的方式)溝通,不直接共用資料庫。這樣以後要換掉哪一邊,其他兩邊都不會受影響。</a:t>
            </a:r>
          </a:p>
        </p:txBody>
      </p:sp>
    </p:spTree>
    <p:extLst>
      <p:ext uri="{BB962C8B-B14F-4D97-AF65-F5344CB8AC3E}">
        <p14:creationId xmlns:p14="http://schemas.microsoft.com/office/powerpoint/2010/main" val="1445363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91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L1 三個系統各做什麼</a:t>
            </a:r>
          </a:p>
        </p:txBody>
      </p:sp>
      <p:sp>
        <p:nvSpPr>
          <p:cNvPr id="3" name="Shape 1"/>
          <p:cNvSpPr/>
          <p:nvPr/>
        </p:nvSpPr>
        <p:spPr>
          <a:xfrm>
            <a:off x="496119" y="1502420"/>
            <a:ext cx="8151763" cy="2103239"/>
          </a:xfrm>
          <a:prstGeom prst="roundRect">
            <a:avLst>
              <a:gd name="adj" fmla="val 283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714" y="1597000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系統</a:t>
            </a:r>
          </a:p>
        </p:txBody>
      </p:sp>
      <p:sp>
        <p:nvSpPr>
          <p:cNvPr id="5" name="Text 3"/>
          <p:cNvSpPr/>
          <p:nvPr/>
        </p:nvSpPr>
        <p:spPr>
          <a:xfrm>
            <a:off x="2110680" y="159700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一句話定位</a:t>
            </a:r>
          </a:p>
        </p:txBody>
      </p:sp>
      <p:sp>
        <p:nvSpPr>
          <p:cNvPr id="6" name="Text 4"/>
          <p:cNvSpPr/>
          <p:nvPr/>
        </p:nvSpPr>
        <p:spPr>
          <a:xfrm>
            <a:off x="4146203" y="1597000"/>
            <a:ext cx="2448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對使用者</a:t>
            </a:r>
          </a:p>
        </p:txBody>
      </p:sp>
      <p:sp>
        <p:nvSpPr>
          <p:cNvPr id="7" name="Text 5"/>
          <p:cNvSpPr/>
          <p:nvPr/>
        </p:nvSpPr>
        <p:spPr>
          <a:xfrm>
            <a:off x="6426026" y="1597000"/>
            <a:ext cx="25325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對資料</a:t>
            </a:r>
          </a:p>
        </p:txBody>
      </p:sp>
      <p:sp>
        <p:nvSpPr>
          <p:cNvPr id="8" name="Text 6"/>
          <p:cNvSpPr/>
          <p:nvPr/>
        </p:nvSpPr>
        <p:spPr>
          <a:xfrm>
            <a:off x="642714" y="2008212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TEP</a:t>
            </a:r>
          </a:p>
        </p:txBody>
      </p:sp>
      <p:sp>
        <p:nvSpPr>
          <p:cNvPr id="9" name="Text 7"/>
          <p:cNvSpPr/>
          <p:nvPr/>
        </p:nvSpPr>
        <p:spPr>
          <a:xfrm>
            <a:off x="2110680" y="2008212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廟方資料的家</a:t>
            </a:r>
          </a:p>
        </p:txBody>
      </p:sp>
      <p:sp>
        <p:nvSpPr>
          <p:cNvPr id="10" name="Text 8"/>
          <p:cNvSpPr/>
          <p:nvPr/>
        </p:nvSpPr>
        <p:spPr>
          <a:xfrm>
            <a:off x="4146203" y="2008212"/>
            <a:ext cx="2448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信眾看不到</a:t>
            </a:r>
          </a:p>
        </p:txBody>
      </p:sp>
      <p:sp>
        <p:nvSpPr>
          <p:cNvPr id="11" name="Text 9"/>
          <p:cNvSpPr/>
          <p:nvPr/>
        </p:nvSpPr>
        <p:spPr>
          <a:xfrm>
            <a:off x="6426026" y="2008212"/>
            <a:ext cx="25325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廟宇、活動、報名都存這裡</a:t>
            </a:r>
          </a:p>
        </p:txBody>
      </p:sp>
      <p:sp>
        <p:nvSpPr>
          <p:cNvPr id="12" name="Text 10"/>
          <p:cNvSpPr/>
          <p:nvPr/>
        </p:nvSpPr>
        <p:spPr>
          <a:xfrm>
            <a:off x="642714" y="2419424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13" name="Text 11"/>
          <p:cNvSpPr/>
          <p:nvPr/>
        </p:nvSpPr>
        <p:spPr>
          <a:xfrm>
            <a:off x="2110680" y="2419424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信眾真正在用的</a:t>
            </a:r>
          </a:p>
        </p:txBody>
      </p:sp>
      <p:sp>
        <p:nvSpPr>
          <p:cNvPr id="14" name="Text 12"/>
          <p:cNvSpPr/>
          <p:nvPr/>
        </p:nvSpPr>
        <p:spPr>
          <a:xfrm>
            <a:off x="4146203" y="2419424"/>
            <a:ext cx="2448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唯一會看到內容的地方</a:t>
            </a:r>
          </a:p>
        </p:txBody>
      </p:sp>
      <p:sp>
        <p:nvSpPr>
          <p:cNvPr id="15" name="Text 13"/>
          <p:cNvSpPr/>
          <p:nvPr/>
        </p:nvSpPr>
        <p:spPr>
          <a:xfrm>
            <a:off x="6426026" y="2419424"/>
            <a:ext cx="20753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自己的內容 + 從 TEP 拿資料</a:t>
            </a:r>
          </a:p>
        </p:txBody>
      </p:sp>
      <p:sp>
        <p:nvSpPr>
          <p:cNvPr id="16" name="Text 14"/>
          <p:cNvSpPr/>
          <p:nvPr/>
        </p:nvSpPr>
        <p:spPr>
          <a:xfrm>
            <a:off x="642714" y="3057451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Gateway</a:t>
            </a:r>
          </a:p>
        </p:txBody>
      </p:sp>
      <p:sp>
        <p:nvSpPr>
          <p:cNvPr id="17" name="Text 15"/>
          <p:cNvSpPr/>
          <p:nvPr/>
        </p:nvSpPr>
        <p:spPr>
          <a:xfrm>
            <a:off x="2110680" y="305745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訊息通道 + 入口</a:t>
            </a:r>
          </a:p>
        </p:txBody>
      </p:sp>
      <p:sp>
        <p:nvSpPr>
          <p:cNvPr id="18" name="Text 16"/>
          <p:cNvSpPr/>
          <p:nvPr/>
        </p:nvSpPr>
        <p:spPr>
          <a:xfrm>
            <a:off x="4146203" y="3057451"/>
            <a:ext cx="24487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不放內容,只發通知</a:t>
            </a:r>
          </a:p>
        </p:txBody>
      </p:sp>
      <p:sp>
        <p:nvSpPr>
          <p:cNvPr id="19" name="Text 17"/>
          <p:cNvSpPr/>
          <p:nvPr/>
        </p:nvSpPr>
        <p:spPr>
          <a:xfrm>
            <a:off x="6426026" y="3057451"/>
            <a:ext cx="20753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使用者狀態、關注關係</a:t>
            </a:r>
          </a:p>
        </p:txBody>
      </p:sp>
      <p:sp>
        <p:nvSpPr>
          <p:cNvPr id="20" name="Shape 18"/>
          <p:cNvSpPr/>
          <p:nvPr/>
        </p:nvSpPr>
        <p:spPr>
          <a:xfrm>
            <a:off x="496119" y="3765128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F5EFE6"/>
          </a:solidFill>
          <a:ln>
            <a:solidFill>
              <a:srgbClr val="E8DFD0"/>
            </a:solidFill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84947"/>
            <a:ext cx="177180" cy="14175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56816" y="394230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重點:</a:t>
            </a: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不再是「主要的地方」,它是 Web App 的延伸——像店門口的招牌,真正進去逛是在 Web App。</a:t>
            </a:r>
          </a:p>
        </p:txBody>
      </p:sp>
    </p:spTree>
    <p:extLst>
      <p:ext uri="{BB962C8B-B14F-4D97-AF65-F5344CB8AC3E}">
        <p14:creationId xmlns:p14="http://schemas.microsoft.com/office/powerpoint/2010/main" val="240962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3591"/>
            <a:ext cx="45157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L1 邊界規則（三條紅線）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8009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這三條是底線,後面所有功能分配都從這裡延伸</a:t>
            </a:r>
          </a:p>
        </p:txBody>
      </p:sp>
      <p:sp>
        <p:nvSpPr>
          <p:cNvPr id="4" name="Shape 2"/>
          <p:cNvSpPr/>
          <p:nvPr/>
        </p:nvSpPr>
        <p:spPr>
          <a:xfrm>
            <a:off x="496119" y="1866379"/>
            <a:ext cx="2622724" cy="1534790"/>
          </a:xfrm>
          <a:prstGeom prst="roundRect">
            <a:avLst>
              <a:gd name="adj" fmla="val 5958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7069" y="1866379"/>
            <a:ext cx="76200" cy="1534790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6" name="Text 4"/>
          <p:cNvSpPr/>
          <p:nvPr/>
        </p:nvSpPr>
        <p:spPr>
          <a:xfrm>
            <a:off x="714077" y="2027188"/>
            <a:ext cx="224395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✗ LINE 訊息永遠是「卡片 + 連結」格式</a:t>
            </a:r>
          </a:p>
        </p:txBody>
      </p:sp>
      <p:sp>
        <p:nvSpPr>
          <p:cNvPr id="7" name="Text 5"/>
          <p:cNvSpPr/>
          <p:nvPr/>
        </p:nvSpPr>
        <p:spPr>
          <a:xfrm>
            <a:off x="714077" y="2559918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不留客。所有實際操作——訂閱、報名、查資料——都把人帶去 Web App。卡片只是入口。</a:t>
            </a:r>
          </a:p>
        </p:txBody>
      </p:sp>
      <p:sp>
        <p:nvSpPr>
          <p:cNvPr id="8" name="Shape 6"/>
          <p:cNvSpPr/>
          <p:nvPr/>
        </p:nvSpPr>
        <p:spPr>
          <a:xfrm>
            <a:off x="3260601" y="1866379"/>
            <a:ext cx="2622724" cy="1534790"/>
          </a:xfrm>
          <a:prstGeom prst="roundRect">
            <a:avLst>
              <a:gd name="adj" fmla="val 5958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1551" y="1866379"/>
            <a:ext cx="76200" cy="1534790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10" name="Text 8"/>
          <p:cNvSpPr/>
          <p:nvPr/>
        </p:nvSpPr>
        <p:spPr>
          <a:xfrm>
            <a:off x="3478560" y="2027188"/>
            <a:ext cx="260932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✗ Web App 是唯一登入點</a:t>
            </a:r>
          </a:p>
        </p:txBody>
      </p:sp>
      <p:sp>
        <p:nvSpPr>
          <p:cNvPr id="11" name="Text 9"/>
          <p:cNvSpPr/>
          <p:nvPr/>
        </p:nvSpPr>
        <p:spPr>
          <a:xfrm>
            <a:off x="3478560" y="2338462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登入只用 LINE Login(也就是用 LINE 帳號登入,OAuth 是這個流程的技術名稱)。Demo 階段不做 email 註冊,簡化架構。</a:t>
            </a:r>
          </a:p>
        </p:txBody>
      </p:sp>
      <p:sp>
        <p:nvSpPr>
          <p:cNvPr id="12" name="Shape 10"/>
          <p:cNvSpPr/>
          <p:nvPr/>
        </p:nvSpPr>
        <p:spPr>
          <a:xfrm>
            <a:off x="6025083" y="1866379"/>
            <a:ext cx="2622724" cy="1534790"/>
          </a:xfrm>
          <a:prstGeom prst="roundRect">
            <a:avLst>
              <a:gd name="adj" fmla="val 5958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06033" y="1866379"/>
            <a:ext cx="76200" cy="1534790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14" name="Text 12"/>
          <p:cNvSpPr/>
          <p:nvPr/>
        </p:nvSpPr>
        <p:spPr>
          <a:xfrm>
            <a:off x="6243042" y="2027188"/>
            <a:ext cx="224395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✗ Gateway 不存內容、不存業務資料</a:t>
            </a:r>
          </a:p>
        </p:txBody>
      </p:sp>
      <p:sp>
        <p:nvSpPr>
          <p:cNvPr id="15" name="Text 13"/>
          <p:cNvSpPr/>
          <p:nvPr/>
        </p:nvSpPr>
        <p:spPr>
          <a:xfrm>
            <a:off x="6243042" y="255991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Gateway 不存活動、廟宇、報名這些資料。它只管:誰要收推播、什麼時候推、推什麼。</a:t>
            </a:r>
          </a:p>
        </p:txBody>
      </p:sp>
      <p:sp>
        <p:nvSpPr>
          <p:cNvPr id="16" name="Shape 14"/>
          <p:cNvSpPr/>
          <p:nvPr/>
        </p:nvSpPr>
        <p:spPr>
          <a:xfrm>
            <a:off x="496119" y="3560638"/>
            <a:ext cx="8151763" cy="829196"/>
          </a:xfrm>
          <a:prstGeom prst="roundRect">
            <a:avLst>
              <a:gd name="adj" fmla="val 7181"/>
            </a:avLst>
          </a:prstGeom>
          <a:solidFill>
            <a:srgbClr val="EAE3D6"/>
          </a:solidFill>
          <a:ln>
            <a:solidFill>
              <a:srgbClr val="D9CDB8"/>
            </a:solidFill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780458"/>
            <a:ext cx="177180" cy="1417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56816" y="3737818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這樣分的好處:</a:t>
            </a: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以後廟方想換通道(改用 Telegram、簡訊、App 推播),只要換掉 LINE Gateway 那一塊就好,Web App 和廟方後端完全不用動。</a:t>
            </a:r>
          </a:p>
        </p:txBody>
      </p:sp>
    </p:spTree>
    <p:extLst>
      <p:ext uri="{BB962C8B-B14F-4D97-AF65-F5344CB8AC3E}">
        <p14:creationId xmlns:p14="http://schemas.microsoft.com/office/powerpoint/2010/main" val="3788380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9003"/>
            <a:ext cx="3605957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L2 每個功能放在哪裡(廟宇 / 神明 / 活動)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896466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</a:p>
        </p:txBody>
      </p:sp>
      <p:sp>
        <p:nvSpPr>
          <p:cNvPr id="4" name="Shape 2"/>
          <p:cNvSpPr/>
          <p:nvPr/>
        </p:nvSpPr>
        <p:spPr>
          <a:xfrm>
            <a:off x="496119" y="1238324"/>
            <a:ext cx="8151763" cy="3426172"/>
          </a:xfrm>
          <a:prstGeom prst="roundRect">
            <a:avLst>
              <a:gd name="adj" fmla="val 147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243087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1581" y="1309241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功能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66604" y="1309241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主端</a:t>
            </a:r>
          </a:p>
        </p:txBody>
      </p:sp>
      <p:sp>
        <p:nvSpPr>
          <p:cNvPr id="8" name="Text 6"/>
          <p:cNvSpPr/>
          <p:nvPr/>
        </p:nvSpPr>
        <p:spPr>
          <a:xfrm>
            <a:off x="4857824" y="1309241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參與?</a:t>
            </a:r>
          </a:p>
        </p:txBody>
      </p:sp>
      <p:sp>
        <p:nvSpPr>
          <p:cNvPr id="9" name="Text 7"/>
          <p:cNvSpPr/>
          <p:nvPr/>
        </p:nvSpPr>
        <p:spPr>
          <a:xfrm>
            <a:off x="6649045" y="1309241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備註</a:t>
            </a:r>
          </a:p>
        </p:txBody>
      </p:sp>
      <p:sp>
        <p:nvSpPr>
          <p:cNvPr id="10" name="Shape 8"/>
          <p:cNvSpPr/>
          <p:nvPr/>
        </p:nvSpPr>
        <p:spPr>
          <a:xfrm>
            <a:off x="500881" y="1553691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581" y="1619845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首頁</a:t>
            </a:r>
          </a:p>
        </p:txBody>
      </p:sp>
      <p:sp>
        <p:nvSpPr>
          <p:cNvPr id="12" name="Text 10"/>
          <p:cNvSpPr/>
          <p:nvPr/>
        </p:nvSpPr>
        <p:spPr>
          <a:xfrm>
            <a:off x="3066604" y="1619845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13" name="Text 11"/>
          <p:cNvSpPr/>
          <p:nvPr/>
        </p:nvSpPr>
        <p:spPr>
          <a:xfrm>
            <a:off x="4857824" y="1619845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14" name="Text 12"/>
          <p:cNvSpPr/>
          <p:nvPr/>
        </p:nvSpPr>
        <p:spPr>
          <a:xfrm>
            <a:off x="6649045" y="1619845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信眾打開 Web App 第一頁</a:t>
            </a:r>
          </a:p>
        </p:txBody>
      </p:sp>
      <p:sp>
        <p:nvSpPr>
          <p:cNvPr id="15" name="Shape 13"/>
          <p:cNvSpPr/>
          <p:nvPr/>
        </p:nvSpPr>
        <p:spPr>
          <a:xfrm>
            <a:off x="500881" y="1864296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581" y="1930450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神明速查 / 詳情</a:t>
            </a:r>
          </a:p>
        </p:txBody>
      </p:sp>
      <p:sp>
        <p:nvSpPr>
          <p:cNvPr id="17" name="Text 15"/>
          <p:cNvSpPr/>
          <p:nvPr/>
        </p:nvSpPr>
        <p:spPr>
          <a:xfrm>
            <a:off x="3066604" y="1930450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18" name="Text 16"/>
          <p:cNvSpPr/>
          <p:nvPr/>
        </p:nvSpPr>
        <p:spPr>
          <a:xfrm>
            <a:off x="4857824" y="1930450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19" name="Text 17"/>
          <p:cNvSpPr/>
          <p:nvPr/>
        </p:nvSpPr>
        <p:spPr>
          <a:xfrm>
            <a:off x="6649045" y="1930450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內容多、瀏覽量大,適合在 Web 細看</a:t>
            </a:r>
          </a:p>
        </p:txBody>
      </p:sp>
      <p:sp>
        <p:nvSpPr>
          <p:cNvPr id="20" name="Shape 18"/>
          <p:cNvSpPr/>
          <p:nvPr/>
        </p:nvSpPr>
        <p:spPr>
          <a:xfrm>
            <a:off x="500881" y="2174900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1581" y="2241054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廟宇列表 / 詳情</a:t>
            </a:r>
          </a:p>
        </p:txBody>
      </p:sp>
      <p:sp>
        <p:nvSpPr>
          <p:cNvPr id="22" name="Text 20"/>
          <p:cNvSpPr/>
          <p:nvPr/>
        </p:nvSpPr>
        <p:spPr>
          <a:xfrm>
            <a:off x="3066604" y="2241054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23" name="Text 21"/>
          <p:cNvSpPr/>
          <p:nvPr/>
        </p:nvSpPr>
        <p:spPr>
          <a:xfrm>
            <a:off x="4857824" y="2241054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24" name="Text 22"/>
          <p:cNvSpPr/>
          <p:nvPr/>
        </p:nvSpPr>
        <p:spPr>
          <a:xfrm>
            <a:off x="6649045" y="2241054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多廟設計(目前 2-3 廟)</a:t>
            </a:r>
          </a:p>
        </p:txBody>
      </p:sp>
      <p:sp>
        <p:nvSpPr>
          <p:cNvPr id="25" name="Shape 23"/>
          <p:cNvSpPr/>
          <p:nvPr/>
        </p:nvSpPr>
        <p:spPr>
          <a:xfrm>
            <a:off x="500881" y="2485504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1581" y="2551658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附近廟宇(GPS)</a:t>
            </a:r>
          </a:p>
        </p:txBody>
      </p:sp>
      <p:sp>
        <p:nvSpPr>
          <p:cNvPr id="27" name="Text 25"/>
          <p:cNvSpPr/>
          <p:nvPr/>
        </p:nvSpPr>
        <p:spPr>
          <a:xfrm>
            <a:off x="3066604" y="2551658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28" name="Text 26"/>
          <p:cNvSpPr/>
          <p:nvPr/>
        </p:nvSpPr>
        <p:spPr>
          <a:xfrm>
            <a:off x="4857824" y="2551658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29" name="Text 27"/>
          <p:cNvSpPr/>
          <p:nvPr/>
        </p:nvSpPr>
        <p:spPr>
          <a:xfrm>
            <a:off x="6649045" y="2551658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用瀏覽器的定位功能</a:t>
            </a:r>
          </a:p>
        </p:txBody>
      </p:sp>
      <p:sp>
        <p:nvSpPr>
          <p:cNvPr id="30" name="Shape 28"/>
          <p:cNvSpPr/>
          <p:nvPr/>
        </p:nvSpPr>
        <p:spPr>
          <a:xfrm>
            <a:off x="500881" y="2796108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1581" y="2862263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3D 參拜引導</a:t>
            </a:r>
          </a:p>
        </p:txBody>
      </p:sp>
      <p:sp>
        <p:nvSpPr>
          <p:cNvPr id="32" name="Text 30"/>
          <p:cNvSpPr/>
          <p:nvPr/>
        </p:nvSpPr>
        <p:spPr>
          <a:xfrm>
            <a:off x="3066604" y="2862263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33" name="Text 31"/>
          <p:cNvSpPr/>
          <p:nvPr/>
        </p:nvSpPr>
        <p:spPr>
          <a:xfrm>
            <a:off x="4857824" y="2862263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34" name="Text 32"/>
          <p:cNvSpPr/>
          <p:nvPr/>
        </p:nvSpPr>
        <p:spPr>
          <a:xfrm>
            <a:off x="6649045" y="2862263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沉浸式體驗,LINE 撐不起來</a:t>
            </a:r>
          </a:p>
        </p:txBody>
      </p:sp>
      <p:sp>
        <p:nvSpPr>
          <p:cNvPr id="35" name="Shape 33"/>
          <p:cNvSpPr/>
          <p:nvPr/>
        </p:nvSpPr>
        <p:spPr>
          <a:xfrm>
            <a:off x="500881" y="3106713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1581" y="3172867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拜拜指南文章</a:t>
            </a:r>
          </a:p>
        </p:txBody>
      </p:sp>
      <p:sp>
        <p:nvSpPr>
          <p:cNvPr id="37" name="Text 35"/>
          <p:cNvSpPr/>
          <p:nvPr/>
        </p:nvSpPr>
        <p:spPr>
          <a:xfrm>
            <a:off x="3066604" y="3172867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38" name="Text 36"/>
          <p:cNvSpPr/>
          <p:nvPr/>
        </p:nvSpPr>
        <p:spPr>
          <a:xfrm>
            <a:off x="4857824" y="3172867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39" name="Text 37"/>
          <p:cNvSpPr/>
          <p:nvPr/>
        </p:nvSpPr>
        <p:spPr>
          <a:xfrm>
            <a:off x="6649045" y="3172867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長篇文章,適合慢慢讀</a:t>
            </a:r>
          </a:p>
        </p:txBody>
      </p:sp>
      <p:sp>
        <p:nvSpPr>
          <p:cNvPr id="40" name="Shape 38"/>
          <p:cNvSpPr/>
          <p:nvPr/>
        </p:nvSpPr>
        <p:spPr>
          <a:xfrm>
            <a:off x="500881" y="3417317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1581" y="3483471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搜尋</a:t>
            </a:r>
          </a:p>
        </p:txBody>
      </p:sp>
      <p:sp>
        <p:nvSpPr>
          <p:cNvPr id="42" name="Text 40"/>
          <p:cNvSpPr/>
          <p:nvPr/>
        </p:nvSpPr>
        <p:spPr>
          <a:xfrm>
            <a:off x="3066604" y="3483471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43" name="Text 41"/>
          <p:cNvSpPr/>
          <p:nvPr/>
        </p:nvSpPr>
        <p:spPr>
          <a:xfrm>
            <a:off x="4857824" y="3483471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44" name="Text 42"/>
          <p:cNvSpPr/>
          <p:nvPr/>
        </p:nvSpPr>
        <p:spPr>
          <a:xfrm>
            <a:off x="6649045" y="3483471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待做</a:t>
            </a:r>
          </a:p>
        </p:txBody>
      </p:sp>
      <p:sp>
        <p:nvSpPr>
          <p:cNvPr id="45" name="Shape 43"/>
          <p:cNvSpPr/>
          <p:nvPr/>
        </p:nvSpPr>
        <p:spPr>
          <a:xfrm>
            <a:off x="500881" y="3727921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1581" y="3794075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活動列表 / 詳情</a:t>
            </a:r>
          </a:p>
        </p:txBody>
      </p:sp>
      <p:sp>
        <p:nvSpPr>
          <p:cNvPr id="47" name="Text 45"/>
          <p:cNvSpPr/>
          <p:nvPr/>
        </p:nvSpPr>
        <p:spPr>
          <a:xfrm>
            <a:off x="3066604" y="3794075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48" name="Text 46"/>
          <p:cNvSpPr/>
          <p:nvPr/>
        </p:nvSpPr>
        <p:spPr>
          <a:xfrm>
            <a:off x="4857824" y="3794075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49" name="Text 47"/>
          <p:cNvSpPr/>
          <p:nvPr/>
        </p:nvSpPr>
        <p:spPr>
          <a:xfrm>
            <a:off x="6649045" y="3794075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從廟方後端拿資料</a:t>
            </a:r>
          </a:p>
        </p:txBody>
      </p:sp>
      <p:sp>
        <p:nvSpPr>
          <p:cNvPr id="50" name="Shape 48"/>
          <p:cNvSpPr/>
          <p:nvPr/>
        </p:nvSpPr>
        <p:spPr>
          <a:xfrm>
            <a:off x="500881" y="4038526"/>
            <a:ext cx="8142238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21581" y="4104680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活動報名表單</a:t>
            </a:r>
          </a:p>
        </p:txBody>
      </p:sp>
      <p:sp>
        <p:nvSpPr>
          <p:cNvPr id="52" name="Text 50"/>
          <p:cNvSpPr/>
          <p:nvPr/>
        </p:nvSpPr>
        <p:spPr>
          <a:xfrm>
            <a:off x="3066604" y="4104680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53" name="Text 51"/>
          <p:cNvSpPr/>
          <p:nvPr/>
        </p:nvSpPr>
        <p:spPr>
          <a:xfrm>
            <a:off x="4857824" y="4104680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發卡片進來</a:t>
            </a:r>
          </a:p>
        </p:txBody>
      </p:sp>
      <p:sp>
        <p:nvSpPr>
          <p:cNvPr id="54" name="Text 52"/>
          <p:cNvSpPr/>
          <p:nvPr/>
        </p:nvSpPr>
        <p:spPr>
          <a:xfrm>
            <a:off x="6649045" y="4104680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報名在 Web 完成,LINE 只是入口</a:t>
            </a:r>
          </a:p>
        </p:txBody>
      </p:sp>
      <p:sp>
        <p:nvSpPr>
          <p:cNvPr id="55" name="Shape 53"/>
          <p:cNvSpPr/>
          <p:nvPr/>
        </p:nvSpPr>
        <p:spPr>
          <a:xfrm>
            <a:off x="500881" y="4349130"/>
            <a:ext cx="8142238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21581" y="4415284"/>
            <a:ext cx="2656508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我的報名 / 取消</a:t>
            </a:r>
          </a:p>
        </p:txBody>
      </p:sp>
      <p:sp>
        <p:nvSpPr>
          <p:cNvPr id="57" name="Text 55"/>
          <p:cNvSpPr/>
          <p:nvPr/>
        </p:nvSpPr>
        <p:spPr>
          <a:xfrm>
            <a:off x="3066604" y="4415284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58" name="Text 56"/>
          <p:cNvSpPr/>
          <p:nvPr/>
        </p:nvSpPr>
        <p:spPr>
          <a:xfrm>
            <a:off x="4857824" y="4415284"/>
            <a:ext cx="200270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推送確認</a:t>
            </a:r>
          </a:p>
        </p:txBody>
      </p:sp>
      <p:sp>
        <p:nvSpPr>
          <p:cNvPr id="59" name="Text 57"/>
          <p:cNvSpPr/>
          <p:nvPr/>
        </p:nvSpPr>
        <p:spPr>
          <a:xfrm>
            <a:off x="6649045" y="4415284"/>
            <a:ext cx="233079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操作在 Web,確認訊息靠 LINE</a:t>
            </a:r>
          </a:p>
        </p:txBody>
      </p:sp>
    </p:spTree>
    <p:extLst>
      <p:ext uri="{BB962C8B-B14F-4D97-AF65-F5344CB8AC3E}">
        <p14:creationId xmlns:p14="http://schemas.microsoft.com/office/powerpoint/2010/main" val="268915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9834"/>
            <a:ext cx="323492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L2 每個功能放在哪裡(新增功能 + 推播 + 系統)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943942"/>
            <a:ext cx="207272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</a:p>
        </p:txBody>
      </p:sp>
      <p:sp>
        <p:nvSpPr>
          <p:cNvPr id="4" name="Shape 2"/>
          <p:cNvSpPr/>
          <p:nvPr/>
        </p:nvSpPr>
        <p:spPr>
          <a:xfrm>
            <a:off x="496119" y="1229618"/>
            <a:ext cx="8151763" cy="3334048"/>
          </a:xfrm>
          <a:prstGeom prst="roundRect">
            <a:avLst>
              <a:gd name="adj" fmla="val 13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234380"/>
            <a:ext cx="8142238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07219" y="1286917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功能</a:t>
            </a:r>
          </a:p>
        </p:txBody>
      </p:sp>
      <p:sp>
        <p:nvSpPr>
          <p:cNvPr id="7" name="Text 5"/>
          <p:cNvSpPr/>
          <p:nvPr/>
        </p:nvSpPr>
        <p:spPr>
          <a:xfrm>
            <a:off x="3052242" y="1286917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主端</a:t>
            </a:r>
          </a:p>
        </p:txBody>
      </p:sp>
      <p:sp>
        <p:nvSpPr>
          <p:cNvPr id="8" name="Text 6"/>
          <p:cNvSpPr/>
          <p:nvPr/>
        </p:nvSpPr>
        <p:spPr>
          <a:xfrm>
            <a:off x="5332065" y="1286917"/>
            <a:ext cx="17054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LINE?</a:t>
            </a:r>
          </a:p>
        </p:txBody>
      </p:sp>
      <p:sp>
        <p:nvSpPr>
          <p:cNvPr id="9" name="Text 7"/>
          <p:cNvSpPr/>
          <p:nvPr/>
        </p:nvSpPr>
        <p:spPr>
          <a:xfrm>
            <a:off x="6797650" y="1286917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備註</a:t>
            </a:r>
          </a:p>
        </p:txBody>
      </p:sp>
      <p:sp>
        <p:nvSpPr>
          <p:cNvPr id="10" name="Shape 8"/>
          <p:cNvSpPr/>
          <p:nvPr/>
        </p:nvSpPr>
        <p:spPr>
          <a:xfrm>
            <a:off x="500881" y="1488281"/>
            <a:ext cx="8142238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7219" y="1540818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現場資訊(停車、廁所、公佈欄)</a:t>
            </a:r>
          </a:p>
        </p:txBody>
      </p:sp>
      <p:sp>
        <p:nvSpPr>
          <p:cNvPr id="12" name="Text 10"/>
          <p:cNvSpPr/>
          <p:nvPr/>
        </p:nvSpPr>
        <p:spPr>
          <a:xfrm>
            <a:off x="3052242" y="1540818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13" name="Text 11"/>
          <p:cNvSpPr/>
          <p:nvPr/>
        </p:nvSpPr>
        <p:spPr>
          <a:xfrm>
            <a:off x="5332065" y="1540818"/>
            <a:ext cx="17054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14" name="Text 12"/>
          <p:cNvSpPr/>
          <p:nvPr/>
        </p:nvSpPr>
        <p:spPr>
          <a:xfrm>
            <a:off x="6797650" y="1540818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新增,Web App 還要做</a:t>
            </a:r>
          </a:p>
        </p:txBody>
      </p:sp>
      <p:sp>
        <p:nvSpPr>
          <p:cNvPr id="15" name="Shape 13"/>
          <p:cNvSpPr/>
          <p:nvPr/>
        </p:nvSpPr>
        <p:spPr>
          <a:xfrm>
            <a:off x="500881" y="1742182"/>
            <a:ext cx="8142238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7219" y="1794718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文化歷史說明</a:t>
            </a:r>
          </a:p>
        </p:txBody>
      </p:sp>
      <p:sp>
        <p:nvSpPr>
          <p:cNvPr id="17" name="Text 15"/>
          <p:cNvSpPr/>
          <p:nvPr/>
        </p:nvSpPr>
        <p:spPr>
          <a:xfrm>
            <a:off x="3052242" y="1794718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18" name="Text 16"/>
          <p:cNvSpPr/>
          <p:nvPr/>
        </p:nvSpPr>
        <p:spPr>
          <a:xfrm>
            <a:off x="5332065" y="1794718"/>
            <a:ext cx="17054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19" name="Text 17"/>
          <p:cNvSpPr/>
          <p:nvPr/>
        </p:nvSpPr>
        <p:spPr>
          <a:xfrm>
            <a:off x="6797650" y="1794718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新增</a:t>
            </a:r>
          </a:p>
        </p:txBody>
      </p:sp>
      <p:sp>
        <p:nvSpPr>
          <p:cNvPr id="20" name="Shape 18"/>
          <p:cNvSpPr/>
          <p:nvPr/>
        </p:nvSpPr>
        <p:spPr>
          <a:xfrm>
            <a:off x="500881" y="1996083"/>
            <a:ext cx="8142238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7219" y="2048619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關於我們 / 加入我們</a:t>
            </a:r>
          </a:p>
        </p:txBody>
      </p:sp>
      <p:sp>
        <p:nvSpPr>
          <p:cNvPr id="22" name="Text 20"/>
          <p:cNvSpPr/>
          <p:nvPr/>
        </p:nvSpPr>
        <p:spPr>
          <a:xfrm>
            <a:off x="3052242" y="2048619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23" name="Text 21"/>
          <p:cNvSpPr/>
          <p:nvPr/>
        </p:nvSpPr>
        <p:spPr>
          <a:xfrm>
            <a:off x="5332065" y="2048619"/>
            <a:ext cx="17054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24" name="Text 22"/>
          <p:cNvSpPr/>
          <p:nvPr/>
        </p:nvSpPr>
        <p:spPr>
          <a:xfrm>
            <a:off x="6797650" y="2048619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新增</a:t>
            </a:r>
          </a:p>
        </p:txBody>
      </p:sp>
      <p:sp>
        <p:nvSpPr>
          <p:cNvPr id="25" name="Shape 23"/>
          <p:cNvSpPr/>
          <p:nvPr/>
        </p:nvSpPr>
        <p:spPr>
          <a:xfrm>
            <a:off x="500881" y="2249984"/>
            <a:ext cx="8142238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7219" y="2302520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祈求詞 / 籤詩</a:t>
            </a:r>
          </a:p>
        </p:txBody>
      </p:sp>
      <p:sp>
        <p:nvSpPr>
          <p:cNvPr id="27" name="Text 25"/>
          <p:cNvSpPr/>
          <p:nvPr/>
        </p:nvSpPr>
        <p:spPr>
          <a:xfrm>
            <a:off x="3052242" y="2302520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28" name="Text 26"/>
          <p:cNvSpPr/>
          <p:nvPr/>
        </p:nvSpPr>
        <p:spPr>
          <a:xfrm>
            <a:off x="5332065" y="2302520"/>
            <a:ext cx="17054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29" name="Text 27"/>
          <p:cNvSpPr/>
          <p:nvPr/>
        </p:nvSpPr>
        <p:spPr>
          <a:xfrm>
            <a:off x="6797650" y="2302520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內容都在 Web App</a:t>
            </a:r>
          </a:p>
        </p:txBody>
      </p:sp>
      <p:sp>
        <p:nvSpPr>
          <p:cNvPr id="30" name="Shape 28"/>
          <p:cNvSpPr/>
          <p:nvPr/>
        </p:nvSpPr>
        <p:spPr>
          <a:xfrm>
            <a:off x="500881" y="2503884"/>
            <a:ext cx="8142238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07219" y="2556421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關注中宮廟(原訂閱)</a:t>
            </a:r>
          </a:p>
        </p:txBody>
      </p:sp>
      <p:sp>
        <p:nvSpPr>
          <p:cNvPr id="32" name="Text 30"/>
          <p:cNvSpPr/>
          <p:nvPr/>
        </p:nvSpPr>
        <p:spPr>
          <a:xfrm>
            <a:off x="3052242" y="2556421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 UI + Gateway 存資料</a:t>
            </a:r>
          </a:p>
        </p:txBody>
      </p:sp>
      <p:sp>
        <p:nvSpPr>
          <p:cNvPr id="33" name="Text 31"/>
          <p:cNvSpPr/>
          <p:nvPr/>
        </p:nvSpPr>
        <p:spPr>
          <a:xfrm>
            <a:off x="5332065" y="2556421"/>
            <a:ext cx="17054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34" name="Text 32"/>
          <p:cNvSpPr/>
          <p:nvPr/>
        </p:nvSpPr>
        <p:spPr>
          <a:xfrm>
            <a:off x="6797650" y="2556421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唯一一個跨系統合作的功能</a:t>
            </a:r>
          </a:p>
        </p:txBody>
      </p:sp>
      <p:sp>
        <p:nvSpPr>
          <p:cNvPr id="35" name="Shape 33"/>
          <p:cNvSpPr/>
          <p:nvPr/>
        </p:nvSpPr>
        <p:spPr>
          <a:xfrm>
            <a:off x="500881" y="2757785"/>
            <a:ext cx="8142238" cy="2586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07219" y="2810321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報名確認推播</a:t>
            </a:r>
          </a:p>
        </p:txBody>
      </p:sp>
      <p:sp>
        <p:nvSpPr>
          <p:cNvPr id="37" name="Text 35"/>
          <p:cNvSpPr/>
          <p:nvPr/>
        </p:nvSpPr>
        <p:spPr>
          <a:xfrm>
            <a:off x="3052242" y="2810321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Gateway</a:t>
            </a:r>
          </a:p>
        </p:txBody>
      </p:sp>
      <p:sp>
        <p:nvSpPr>
          <p:cNvPr id="38" name="Text 36"/>
          <p:cNvSpPr/>
          <p:nvPr/>
        </p:nvSpPr>
        <p:spPr>
          <a:xfrm>
            <a:off x="5332065" y="2810321"/>
            <a:ext cx="170549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</a:p>
        </p:txBody>
      </p:sp>
      <p:sp>
        <p:nvSpPr>
          <p:cNvPr id="39" name="Text 37"/>
          <p:cNvSpPr/>
          <p:nvPr/>
        </p:nvSpPr>
        <p:spPr>
          <a:xfrm>
            <a:off x="6797650" y="2810321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信眾報完名,LINE 主動通知</a:t>
            </a:r>
          </a:p>
        </p:txBody>
      </p:sp>
      <p:sp>
        <p:nvSpPr>
          <p:cNvPr id="40" name="Shape 38"/>
          <p:cNvSpPr/>
          <p:nvPr/>
        </p:nvSpPr>
        <p:spPr>
          <a:xfrm>
            <a:off x="500881" y="3016448"/>
            <a:ext cx="8142238" cy="2586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7219" y="3068985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活動提醒推播</a:t>
            </a:r>
          </a:p>
        </p:txBody>
      </p:sp>
      <p:sp>
        <p:nvSpPr>
          <p:cNvPr id="42" name="Text 40"/>
          <p:cNvSpPr/>
          <p:nvPr/>
        </p:nvSpPr>
        <p:spPr>
          <a:xfrm>
            <a:off x="3052242" y="3068985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Gateway</a:t>
            </a:r>
          </a:p>
        </p:txBody>
      </p:sp>
      <p:sp>
        <p:nvSpPr>
          <p:cNvPr id="43" name="Text 41"/>
          <p:cNvSpPr/>
          <p:nvPr/>
        </p:nvSpPr>
        <p:spPr>
          <a:xfrm>
            <a:off x="5332065" y="3068985"/>
            <a:ext cx="170549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</a:p>
        </p:txBody>
      </p:sp>
      <p:sp>
        <p:nvSpPr>
          <p:cNvPr id="44" name="Text 42"/>
          <p:cNvSpPr/>
          <p:nvPr/>
        </p:nvSpPr>
        <p:spPr>
          <a:xfrm>
            <a:off x="6797650" y="3068985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活動前 24 小時提醒</a:t>
            </a:r>
          </a:p>
        </p:txBody>
      </p:sp>
      <p:sp>
        <p:nvSpPr>
          <p:cNvPr id="45" name="Shape 43"/>
          <p:cNvSpPr/>
          <p:nvPr/>
        </p:nvSpPr>
        <p:spPr>
          <a:xfrm>
            <a:off x="500881" y="3275112"/>
            <a:ext cx="8142238" cy="2586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07219" y="3327648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新活動推播</a:t>
            </a:r>
          </a:p>
        </p:txBody>
      </p:sp>
      <p:sp>
        <p:nvSpPr>
          <p:cNvPr id="47" name="Text 45"/>
          <p:cNvSpPr/>
          <p:nvPr/>
        </p:nvSpPr>
        <p:spPr>
          <a:xfrm>
            <a:off x="3052242" y="3327648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Gateway</a:t>
            </a:r>
          </a:p>
        </p:txBody>
      </p:sp>
      <p:sp>
        <p:nvSpPr>
          <p:cNvPr id="48" name="Text 46"/>
          <p:cNvSpPr/>
          <p:nvPr/>
        </p:nvSpPr>
        <p:spPr>
          <a:xfrm>
            <a:off x="5332065" y="3327648"/>
            <a:ext cx="170549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</a:p>
        </p:txBody>
      </p:sp>
      <p:sp>
        <p:nvSpPr>
          <p:cNvPr id="49" name="Text 47"/>
          <p:cNvSpPr/>
          <p:nvPr/>
        </p:nvSpPr>
        <p:spPr>
          <a:xfrm>
            <a:off x="6797650" y="3327648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推給關注那間廟的人</a:t>
            </a:r>
          </a:p>
        </p:txBody>
      </p:sp>
      <p:sp>
        <p:nvSpPr>
          <p:cNvPr id="50" name="Shape 48"/>
          <p:cNvSpPr/>
          <p:nvPr/>
        </p:nvSpPr>
        <p:spPr>
          <a:xfrm>
            <a:off x="500881" y="3533775"/>
            <a:ext cx="8142238" cy="2586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07219" y="3586311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歡迎流程(首次加 LINE)</a:t>
            </a:r>
          </a:p>
        </p:txBody>
      </p:sp>
      <p:sp>
        <p:nvSpPr>
          <p:cNvPr id="52" name="Text 50"/>
          <p:cNvSpPr/>
          <p:nvPr/>
        </p:nvSpPr>
        <p:spPr>
          <a:xfrm>
            <a:off x="3052242" y="3586311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Gateway</a:t>
            </a:r>
          </a:p>
        </p:txBody>
      </p:sp>
      <p:sp>
        <p:nvSpPr>
          <p:cNvPr id="53" name="Text 51"/>
          <p:cNvSpPr/>
          <p:nvPr/>
        </p:nvSpPr>
        <p:spPr>
          <a:xfrm>
            <a:off x="5332065" y="3586311"/>
            <a:ext cx="170549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</a:p>
        </p:txBody>
      </p:sp>
      <p:sp>
        <p:nvSpPr>
          <p:cNvPr id="54" name="Text 52"/>
          <p:cNvSpPr/>
          <p:nvPr/>
        </p:nvSpPr>
        <p:spPr>
          <a:xfrm>
            <a:off x="6797650" y="3586311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一加好友就觸發</a:t>
            </a:r>
          </a:p>
        </p:txBody>
      </p:sp>
      <p:sp>
        <p:nvSpPr>
          <p:cNvPr id="55" name="Shape 53"/>
          <p:cNvSpPr/>
          <p:nvPr/>
        </p:nvSpPr>
        <p:spPr>
          <a:xfrm>
            <a:off x="500881" y="3792438"/>
            <a:ext cx="8142238" cy="2586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07219" y="3844975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Rich Menu</a:t>
            </a:r>
          </a:p>
        </p:txBody>
      </p:sp>
      <p:sp>
        <p:nvSpPr>
          <p:cNvPr id="57" name="Text 55"/>
          <p:cNvSpPr/>
          <p:nvPr/>
        </p:nvSpPr>
        <p:spPr>
          <a:xfrm>
            <a:off x="3052242" y="3844975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Gateway</a:t>
            </a:r>
          </a:p>
        </p:txBody>
      </p:sp>
      <p:sp>
        <p:nvSpPr>
          <p:cNvPr id="58" name="Text 56"/>
          <p:cNvSpPr/>
          <p:nvPr/>
        </p:nvSpPr>
        <p:spPr>
          <a:xfrm>
            <a:off x="5332065" y="3844975"/>
            <a:ext cx="170549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</a:p>
        </p:txBody>
      </p:sp>
      <p:sp>
        <p:nvSpPr>
          <p:cNvPr id="59" name="Text 57"/>
          <p:cNvSpPr/>
          <p:nvPr/>
        </p:nvSpPr>
        <p:spPr>
          <a:xfrm>
            <a:off x="6797650" y="3844975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底部選單,全部跳 Web App</a:t>
            </a:r>
          </a:p>
        </p:txBody>
      </p:sp>
      <p:sp>
        <p:nvSpPr>
          <p:cNvPr id="60" name="Shape 58"/>
          <p:cNvSpPr/>
          <p:nvPr/>
        </p:nvSpPr>
        <p:spPr>
          <a:xfrm>
            <a:off x="500881" y="4051102"/>
            <a:ext cx="8142238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07219" y="4103638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Login</a:t>
            </a:r>
          </a:p>
        </p:txBody>
      </p:sp>
      <p:sp>
        <p:nvSpPr>
          <p:cNvPr id="62" name="Text 60"/>
          <p:cNvSpPr/>
          <p:nvPr/>
        </p:nvSpPr>
        <p:spPr>
          <a:xfrm>
            <a:off x="3052242" y="4103638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</a:p>
        </p:txBody>
      </p:sp>
      <p:sp>
        <p:nvSpPr>
          <p:cNvPr id="63" name="Text 61"/>
          <p:cNvSpPr/>
          <p:nvPr/>
        </p:nvSpPr>
        <p:spPr>
          <a:xfrm>
            <a:off x="5332065" y="4103638"/>
            <a:ext cx="17054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平台處理</a:t>
            </a:r>
          </a:p>
        </p:txBody>
      </p:sp>
      <p:sp>
        <p:nvSpPr>
          <p:cNvPr id="64" name="Text 62"/>
          <p:cNvSpPr/>
          <p:nvPr/>
        </p:nvSpPr>
        <p:spPr>
          <a:xfrm>
            <a:off x="6797650" y="4103638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Gateway 不參與這個流程</a:t>
            </a:r>
          </a:p>
        </p:txBody>
      </p:sp>
      <p:sp>
        <p:nvSpPr>
          <p:cNvPr id="65" name="Shape 63"/>
          <p:cNvSpPr/>
          <p:nvPr/>
        </p:nvSpPr>
        <p:spPr>
          <a:xfrm>
            <a:off x="500881" y="4305002"/>
            <a:ext cx="8142238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07219" y="4357539"/>
            <a:ext cx="268493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廟方管理活動(後台)</a:t>
            </a:r>
          </a:p>
        </p:txBody>
      </p:sp>
      <p:sp>
        <p:nvSpPr>
          <p:cNvPr id="67" name="Text 65"/>
          <p:cNvSpPr/>
          <p:nvPr/>
        </p:nvSpPr>
        <p:spPr>
          <a:xfrm>
            <a:off x="3052242" y="4357539"/>
            <a:ext cx="25197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TEP</a:t>
            </a:r>
          </a:p>
        </p:txBody>
      </p:sp>
      <p:sp>
        <p:nvSpPr>
          <p:cNvPr id="68" name="Text 66"/>
          <p:cNvSpPr/>
          <p:nvPr/>
        </p:nvSpPr>
        <p:spPr>
          <a:xfrm>
            <a:off x="5332065" y="4357539"/>
            <a:ext cx="170549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</a:p>
        </p:txBody>
      </p:sp>
      <p:sp>
        <p:nvSpPr>
          <p:cNvPr id="69" name="Text 67"/>
          <p:cNvSpPr/>
          <p:nvPr/>
        </p:nvSpPr>
        <p:spPr>
          <a:xfrm>
            <a:off x="6797650" y="4357539"/>
            <a:ext cx="219640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Demo 階段我們代廟方做</a:t>
            </a:r>
          </a:p>
        </p:txBody>
      </p:sp>
    </p:spTree>
    <p:extLst>
      <p:ext uri="{BB962C8B-B14F-4D97-AF65-F5344CB8AC3E}">
        <p14:creationId xmlns:p14="http://schemas.microsoft.com/office/powerpoint/2010/main" val="3606117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294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L2 判斷邏輯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010022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設計同學最該關注這頁——下面兩個取捨,決定了你之後拿到的設計需求長什麼樣。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93" y="2136204"/>
            <a:ext cx="3905845" cy="16013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0466" y="2399820"/>
            <a:ext cx="130762" cy="130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41505" y="2352334"/>
            <a:ext cx="1387833" cy="116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營運資料來源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2841505" y="2501753"/>
            <a:ext cx="2339148" cy="8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廟方資料原點 → TEP</a:t>
            </a:r>
            <a:endParaRPr lang="en-US" sz="550" dirty="0"/>
          </a:p>
        </p:txBody>
      </p:sp>
      <p:sp>
        <p:nvSpPr>
          <p:cNvPr id="8" name="Text 4"/>
          <p:cNvSpPr/>
          <p:nvPr/>
        </p:nvSpPr>
        <p:spPr>
          <a:xfrm>
            <a:off x="2841505" y="2815583"/>
            <a:ext cx="1387833" cy="116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需主動觸達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2841505" y="2965001"/>
            <a:ext cx="2339148" cy="8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推播或通知 → LINE Gateway</a:t>
            </a:r>
            <a:endParaRPr lang="en-US" sz="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466" y="2779847"/>
            <a:ext cx="130762" cy="1307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41505" y="3282967"/>
            <a:ext cx="1387833" cy="116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需要瀏覽介面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2841505" y="3432386"/>
            <a:ext cx="2339148" cy="8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UI / 表單 / 列表 → Web App</a:t>
            </a:r>
            <a:endParaRPr lang="en-US" sz="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0466" y="3262032"/>
            <a:ext cx="130762" cy="1307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68082" y="1328217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關鍵取捨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968082" y="1583978"/>
            <a:ext cx="2684487" cy="1099468"/>
          </a:xfrm>
          <a:prstGeom prst="roundRect">
            <a:avLst>
              <a:gd name="adj" fmla="val 6238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953795" y="1583978"/>
            <a:ext cx="57150" cy="1099468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17" name="Text 11"/>
          <p:cNvSpPr/>
          <p:nvPr/>
        </p:nvSpPr>
        <p:spPr>
          <a:xfrm>
            <a:off x="6131496" y="1704529"/>
            <a:ext cx="2600128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祈求詞、籤詩做在 Web App（不是 LINE）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131496" y="2116410"/>
            <a:ext cx="2400523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理由:LINE 是招牌(一張一張的精美卡片),但完整的內容、儀式感、停留體驗,都發生在 Web App 裡。LINE 不負責讓人「沉浸」,Web App 才負責。</a:t>
            </a:r>
          </a:p>
        </p:txBody>
      </p:sp>
      <p:sp>
        <p:nvSpPr>
          <p:cNvPr id="19" name="Shape 13"/>
          <p:cNvSpPr/>
          <p:nvPr/>
        </p:nvSpPr>
        <p:spPr>
          <a:xfrm>
            <a:off x="5968082" y="2763143"/>
            <a:ext cx="2684487" cy="784547"/>
          </a:xfrm>
          <a:prstGeom prst="roundRect">
            <a:avLst>
              <a:gd name="adj" fmla="val 8741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953795" y="2763143"/>
            <a:ext cx="57150" cy="784547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21" name="Text 15"/>
          <p:cNvSpPr/>
          <p:nvPr/>
        </p:nvSpPr>
        <p:spPr>
          <a:xfrm>
            <a:off x="6131496" y="2883694"/>
            <a:ext cx="2730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報名表單做在 Web App（不是 LIFF）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131496" y="3129483"/>
            <a:ext cx="240052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理由:Web App 已經有完整的報名介面(欄位、驗證、確認頁),沒必要在 LINE 裡再做一個縮小版。LIFF 是 LINE 裡開的小網頁,做一次已經很花時間,做兩次更不划算。</a:t>
            </a:r>
          </a:p>
        </p:txBody>
      </p:sp>
      <p:sp>
        <p:nvSpPr>
          <p:cNvPr id="23" name="Shape 17"/>
          <p:cNvSpPr/>
          <p:nvPr/>
        </p:nvSpPr>
        <p:spPr>
          <a:xfrm>
            <a:off x="5968082" y="3637359"/>
            <a:ext cx="2684487" cy="528786"/>
          </a:xfrm>
          <a:prstGeom prst="roundRect">
            <a:avLst>
              <a:gd name="adj" fmla="val 8445"/>
            </a:avLst>
          </a:prstGeom>
          <a:solidFill>
            <a:srgbClr val="DDDAD4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4346" y="3791471"/>
            <a:ext cx="132904" cy="10626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13512" y="3743623"/>
            <a:ext cx="22327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這兩個取捨,是這份規劃跟「什麼都塞進 LINE」最大的不同——LINE 負責勾人進來,Web App 負責讓人留下來。</a:t>
            </a:r>
          </a:p>
        </p:txBody>
      </p:sp>
    </p:spTree>
    <p:extLst>
      <p:ext uri="{BB962C8B-B14F-4D97-AF65-F5344CB8AC3E}">
        <p14:creationId xmlns:p14="http://schemas.microsoft.com/office/powerpoint/2010/main" val="3209044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2FD71C08-CC44-413B-ABE3-C1B92581D9B3}"/>
              </a:ext>
            </a:extLst>
          </p:cNvPr>
          <p:cNvSpPr/>
          <p:nvPr/>
        </p:nvSpPr>
        <p:spPr>
          <a:xfrm>
            <a:off x="4610100" y="4031531"/>
            <a:ext cx="4100809" cy="603497"/>
          </a:xfrm>
          <a:prstGeom prst="rect">
            <a:avLst/>
          </a:prstGeom>
          <a:solidFill>
            <a:srgbClr val="9C92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" name="Text 0"/>
          <p:cNvSpPr/>
          <p:nvPr/>
        </p:nvSpPr>
        <p:spPr>
          <a:xfrm>
            <a:off x="496119" y="508471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L3 哪份資料存在哪裡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1044253"/>
            <a:ext cx="86089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同一筆資料只能有一個「主人」,其他系統想用就跟主人要。這頁把所有資料的主人列清楚。</a:t>
            </a:r>
          </a:p>
        </p:txBody>
      </p:sp>
      <p:sp>
        <p:nvSpPr>
          <p:cNvPr id="4" name="Shape 2"/>
          <p:cNvSpPr/>
          <p:nvPr/>
        </p:nvSpPr>
        <p:spPr>
          <a:xfrm>
            <a:off x="496119" y="1309539"/>
            <a:ext cx="8151763" cy="2619970"/>
          </a:xfrm>
          <a:prstGeom prst="roundRect">
            <a:avLst>
              <a:gd name="adj" fmla="val 18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4511" y="1373460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資料類別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385245" y="1373460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TEP(廟方後端)</a:t>
            </a:r>
          </a:p>
        </p:txBody>
      </p:sp>
      <p:sp>
        <p:nvSpPr>
          <p:cNvPr id="7" name="Text 5"/>
          <p:cNvSpPr/>
          <p:nvPr/>
        </p:nvSpPr>
        <p:spPr>
          <a:xfrm>
            <a:off x="5176465" y="1373460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67686" y="1373460"/>
            <a:ext cx="201922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Gateway(LINE 相關處理)</a:t>
            </a:r>
          </a:p>
        </p:txBody>
      </p:sp>
      <p:sp>
        <p:nvSpPr>
          <p:cNvPr id="9" name="Text 7"/>
          <p:cNvSpPr/>
          <p:nvPr/>
        </p:nvSpPr>
        <p:spPr>
          <a:xfrm>
            <a:off x="614511" y="1659806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廟宇營運資料（廟名、地址、開放時間、香爐）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85245" y="1659806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擁有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76465" y="1659806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📖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67686" y="1659806"/>
            <a:ext cx="201922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📖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讀(發推播時要拿廟名等資訊)</a:t>
            </a:r>
          </a:p>
        </p:txBody>
      </p:sp>
      <p:sp>
        <p:nvSpPr>
          <p:cNvPr id="13" name="Text 11"/>
          <p:cNvSpPr/>
          <p:nvPr/>
        </p:nvSpPr>
        <p:spPr>
          <a:xfrm>
            <a:off x="614511" y="1950913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活動資料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5245" y="1950913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擁有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76465" y="1950913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📖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967686" y="1950913"/>
            <a:ext cx="201922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📖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讀(推播時要用)</a:t>
            </a:r>
          </a:p>
        </p:txBody>
      </p:sp>
      <p:sp>
        <p:nvSpPr>
          <p:cNvPr id="17" name="Text 15"/>
          <p:cNvSpPr/>
          <p:nvPr/>
        </p:nvSpPr>
        <p:spPr>
          <a:xfrm>
            <a:off x="614511" y="2242021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報名資料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5245" y="2242021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擁有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76465" y="2242021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📖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讀 + </a:t>
            </a: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✏️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寫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67686" y="2242021"/>
            <a:ext cx="201922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4511" y="2533129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使用者的基本資料(LINE 帳號、名字、電話、email)</a:t>
            </a:r>
          </a:p>
        </p:txBody>
      </p:sp>
      <p:sp>
        <p:nvSpPr>
          <p:cNvPr id="22" name="Text 20"/>
          <p:cNvSpPr/>
          <p:nvPr/>
        </p:nvSpPr>
        <p:spPr>
          <a:xfrm>
            <a:off x="3385245" y="2533129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76465" y="2533129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擁有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67686" y="2533129"/>
            <a:ext cx="201922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📖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同步存一份(主表在 Web App)</a:t>
            </a:r>
          </a:p>
        </p:txBody>
      </p:sp>
      <p:sp>
        <p:nvSpPr>
          <p:cNvPr id="25" name="Text 23"/>
          <p:cNvSpPr/>
          <p:nvPr/>
        </p:nvSpPr>
        <p:spPr>
          <a:xfrm>
            <a:off x="614511" y="2824237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 自己的內容(神明、指南、3D 圖、文化歷史)</a:t>
            </a:r>
          </a:p>
        </p:txBody>
      </p:sp>
      <p:sp>
        <p:nvSpPr>
          <p:cNvPr id="26" name="Text 24"/>
          <p:cNvSpPr/>
          <p:nvPr/>
        </p:nvSpPr>
        <p:spPr>
          <a:xfrm>
            <a:off x="3385245" y="2824237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76465" y="2824237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擁有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67686" y="2824237"/>
            <a:ext cx="201922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4511" y="3115345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關注關係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（誰關注哪間廟）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5245" y="3115345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76465" y="3115345"/>
            <a:ext cx="2016844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📖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讀 + </a:t>
            </a: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✏️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寫（透過 API）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67686" y="3115345"/>
            <a:ext cx="201922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擁有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4511" y="3406453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LINE 發了什麼推播</a:t>
            </a:r>
          </a:p>
        </p:txBody>
      </p:sp>
      <p:sp>
        <p:nvSpPr>
          <p:cNvPr id="34" name="Text 32"/>
          <p:cNvSpPr/>
          <p:nvPr/>
        </p:nvSpPr>
        <p:spPr>
          <a:xfrm>
            <a:off x="3385245" y="3406453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76465" y="3406453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67686" y="3406453"/>
            <a:ext cx="201922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擁有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4511" y="3697560"/>
            <a:ext cx="299635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使用者操作的紀錄</a:t>
            </a:r>
          </a:p>
        </p:txBody>
      </p:sp>
      <p:sp>
        <p:nvSpPr>
          <p:cNvPr id="38" name="Text 36"/>
          <p:cNvSpPr/>
          <p:nvPr/>
        </p:nvSpPr>
        <p:spPr>
          <a:xfrm>
            <a:off x="3385245" y="3697560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76465" y="3697560"/>
            <a:ext cx="201684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—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67686" y="3697560"/>
            <a:ext cx="2019226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擁有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4486" y="4031531"/>
            <a:ext cx="4100810" cy="603498"/>
          </a:xfrm>
          <a:prstGeom prst="roundRect">
            <a:avLst>
              <a:gd name="adj" fmla="val 13531"/>
            </a:avLst>
          </a:prstGeom>
          <a:solidFill>
            <a:srgbClr val="9C9283"/>
          </a:solidFill>
          <a:ln/>
        </p:spPr>
      </p:sp>
      <p:sp>
        <p:nvSpPr>
          <p:cNvPr id="42" name="Text 40"/>
          <p:cNvSpPr/>
          <p:nvPr/>
        </p:nvSpPr>
        <p:spPr>
          <a:xfrm>
            <a:off x="527893" y="4122241"/>
            <a:ext cx="387350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使用者主表 → Web App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3400" y="4390132"/>
            <a:ext cx="3873500" cy="302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使用者是從 Web App 登入的,所以基本資料(名字、電話)就由 Web App 管理。LINE Gateway 只同步一份方便用。</a:t>
            </a:r>
          </a:p>
        </p:txBody>
      </p:sp>
      <p:sp>
        <p:nvSpPr>
          <p:cNvPr id="44" name="Text 42"/>
          <p:cNvSpPr/>
          <p:nvPr/>
        </p:nvSpPr>
        <p:spPr>
          <a:xfrm>
            <a:off x="4711700" y="4127500"/>
            <a:ext cx="387350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關注關係 → Gateway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11700" y="4394200"/>
            <a:ext cx="3873500" cy="302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「關注一間廟」本質上就是「我要收這間廟的推播」,所以放在 LINE Gateway 最合理。Web App 上的關注按鈕,按下去會通知 Gateway 更新。</a:t>
            </a:r>
          </a:p>
        </p:txBody>
      </p:sp>
    </p:spTree>
    <p:extLst>
      <p:ext uri="{BB962C8B-B14F-4D97-AF65-F5344CB8AC3E}">
        <p14:creationId xmlns:p14="http://schemas.microsoft.com/office/powerpoint/2010/main" val="2905922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387"/>
            <a:ext cx="34697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L3 系統架構圖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30709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三方系統怎麼互相講話,以及誰負責跟誰開口。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212" y="1484412"/>
            <a:ext cx="3841552" cy="3049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752" y="2837619"/>
            <a:ext cx="690356" cy="315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系統架構總覽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194282" y="1844971"/>
            <a:ext cx="1255627" cy="157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信眾開啟 LINE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194282" y="2047727"/>
            <a:ext cx="1255627" cy="11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透過 LINE 與平台互動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482425" y="1786564"/>
            <a:ext cx="1255626" cy="157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Web App ↔ TEP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711025" y="1989321"/>
            <a:ext cx="1027026" cy="33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讀取活動/廟宇、寫入報名、查我的報名、取消報名</a:t>
            </a:r>
          </a:p>
        </p:txBody>
      </p:sp>
      <p:sp>
        <p:nvSpPr>
          <p:cNvPr id="10" name="Text 7"/>
          <p:cNvSpPr/>
          <p:nvPr/>
        </p:nvSpPr>
        <p:spPr>
          <a:xfrm>
            <a:off x="1482425" y="3848685"/>
            <a:ext cx="1255626" cy="157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Gateway → TEP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482425" y="4051442"/>
            <a:ext cx="1255626" cy="11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讀取活動與廟宇資料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422882" y="3769757"/>
            <a:ext cx="1027027" cy="31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信眾開啟 Web App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194282" y="4130369"/>
            <a:ext cx="1255627" cy="11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瀏覽與報名介面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793316" y="2695462"/>
            <a:ext cx="1049477" cy="31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LINE 平台 ↔ Gateway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93316" y="3056074"/>
            <a:ext cx="1049477" cy="233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Webhook 與 Push 事件傳遞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06378" y="2780002"/>
            <a:ext cx="1278077" cy="157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TEP → Gateway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334978" y="2982759"/>
            <a:ext cx="1049477" cy="233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內部 API 觸發推播（X-Gateway-Key）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990555" y="1426592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Gateway 連到哪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990555" y="1717253"/>
            <a:ext cx="2662014" cy="5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→ 找 TEP:拿活動、廟宇資料,寫推播文案要用</a:t>
            </a: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← TEP 來找:TEP 通知 Gateway 該推播了</a:t>
            </a:r>
          </a:p>
        </p:txBody>
      </p:sp>
      <p:sp>
        <p:nvSpPr>
          <p:cNvPr id="20" name="Text 17"/>
          <p:cNvSpPr/>
          <p:nvPr/>
        </p:nvSpPr>
        <p:spPr>
          <a:xfrm>
            <a:off x="5990555" y="2390329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Web App 連到哪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990555" y="2680990"/>
            <a:ext cx="2662014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→ 找 TEP:讀活動/廟宇、寫報名、查我的報名、取消報名</a:t>
            </a: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→ 找 LINE 平台:處理 LINE Login(用 LINE 帳號登入)</a:t>
            </a: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→ 找 Gateway:讀寫關注關係——這是唯一一條 Web App 跟 Gateway 直接講話的線</a:t>
            </a:r>
          </a:p>
        </p:txBody>
      </p:sp>
      <p:sp>
        <p:nvSpPr>
          <p:cNvPr id="22" name="Shape 19"/>
          <p:cNvSpPr/>
          <p:nvPr/>
        </p:nvSpPr>
        <p:spPr>
          <a:xfrm>
            <a:off x="5990555" y="3580954"/>
            <a:ext cx="2662014" cy="997967"/>
          </a:xfrm>
          <a:prstGeom prst="roundRect">
            <a:avLst>
              <a:gd name="adj" fmla="val 5071"/>
            </a:avLst>
          </a:prstGeom>
          <a:solidFill>
            <a:srgbClr val="FCF2B5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032" y="3759398"/>
            <a:ext cx="150614" cy="1204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82122" y="3713411"/>
            <a:ext cx="21499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重點:Web App 不會自己發 LINE 訊息——所有 LINE 推播都走 Gateway。這樣以後想換通道(改用 Telegram 或別的),Web App 完全不用動。</a:t>
            </a:r>
          </a:p>
        </p:txBody>
      </p:sp>
    </p:spTree>
    <p:extLst>
      <p:ext uri="{BB962C8B-B14F-4D97-AF65-F5344CB8AC3E}">
        <p14:creationId xmlns:p14="http://schemas.microsoft.com/office/powerpoint/2010/main" val="319398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940"/>
            <a:ext cx="6844457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跟著一個信眾走一遍:從廟方上稿到收到確認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1125662"/>
            <a:ext cx="86089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Demo 時要演的完整故事,共五步。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96467"/>
            <a:ext cx="134615" cy="134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1689422"/>
            <a:ext cx="2631951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794793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廟方告知有新活動</a:t>
            </a:r>
          </a:p>
        </p:txBody>
      </p:sp>
      <p:sp>
        <p:nvSpPr>
          <p:cNvPr id="7" name="Text 4"/>
          <p:cNvSpPr/>
          <p:nvPr/>
        </p:nvSpPr>
        <p:spPr>
          <a:xfrm>
            <a:off x="496120" y="2081882"/>
            <a:ext cx="2631950" cy="80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我們/學長把活動資訊上到廟方後端,按下「發布」。系統一偵測到「發布」這個動作,就會開始下面的流程。</a:t>
            </a:r>
          </a:p>
          <a:p>
            <a:pPr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850" i="1" dirty="0">
                <a:solidFill>
                  <a:srgbClr val="8A8A8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⚠️ 觸發時機要跟學長確認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5987" y="1496467"/>
            <a:ext cx="134615" cy="13461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55987" y="1689422"/>
            <a:ext cx="2631951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" name="Text 6"/>
          <p:cNvSpPr/>
          <p:nvPr/>
        </p:nvSpPr>
        <p:spPr>
          <a:xfrm>
            <a:off x="3255987" y="1794793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廟方後端通知 Gateway</a:t>
            </a:r>
          </a:p>
        </p:txBody>
      </p:sp>
      <p:sp>
        <p:nvSpPr>
          <p:cNvPr id="11" name="Text 7"/>
          <p:cNvSpPr/>
          <p:nvPr/>
        </p:nvSpPr>
        <p:spPr>
          <a:xfrm>
            <a:off x="3255987" y="2081882"/>
            <a:ext cx="2631951" cy="611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廟方後端會傳一個訊息給 LINE Gateway,內容是:「這間廟剛發布了這場活動,可以開始推播了。」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856" y="1496467"/>
            <a:ext cx="134615" cy="13461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15856" y="1689422"/>
            <a:ext cx="2631951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4" name="Text 9"/>
          <p:cNvSpPr/>
          <p:nvPr/>
        </p:nvSpPr>
        <p:spPr>
          <a:xfrm>
            <a:off x="6015856" y="1794793"/>
            <a:ext cx="2216497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Gateway 找到要通知的人</a:t>
            </a:r>
          </a:p>
        </p:txBody>
      </p:sp>
      <p:sp>
        <p:nvSpPr>
          <p:cNvPr id="15" name="Text 10"/>
          <p:cNvSpPr/>
          <p:nvPr/>
        </p:nvSpPr>
        <p:spPr>
          <a:xfrm>
            <a:off x="6015856" y="2081882"/>
            <a:ext cx="2631951" cy="82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Gateway 翻名單:「誰關注這間廟?」找到 80 個人。把活動做成漂亮的卡片(活動圖、名稱、時間、了解詳情按鈕),透過 LINE 一次發給這 80 個人。</a:t>
            </a: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33452"/>
            <a:ext cx="134615" cy="13461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96119" y="3126408"/>
            <a:ext cx="4011885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8" name="Text 12"/>
          <p:cNvSpPr/>
          <p:nvPr/>
        </p:nvSpPr>
        <p:spPr>
          <a:xfrm>
            <a:off x="496119" y="3231777"/>
            <a:ext cx="234649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信眾看到卡片,點進去</a:t>
            </a:r>
          </a:p>
        </p:txBody>
      </p:sp>
      <p:sp>
        <p:nvSpPr>
          <p:cNvPr id="19" name="Text 13"/>
          <p:cNvSpPr/>
          <p:nvPr/>
        </p:nvSpPr>
        <p:spPr>
          <a:xfrm>
            <a:off x="496119" y="3518866"/>
            <a:ext cx="4011885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信眾在 LINE 看到卡片,點一下——自動跳到 Web App 活動頁(已經是登入狀態,因為之前綁過 LINE)。看完點「立即報名」,姓名電話自動填好(系統記得他),按送出,Web App 把報名資料送到廟方後端。</a:t>
            </a: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922" y="2933452"/>
            <a:ext cx="134615" cy="13461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635922" y="3126408"/>
            <a:ext cx="4011885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2" name="Text 15"/>
          <p:cNvSpPr/>
          <p:nvPr/>
        </p:nvSpPr>
        <p:spPr>
          <a:xfrm>
            <a:off x="4635922" y="3231777"/>
            <a:ext cx="2161282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信眾收到 LINE 確認</a:t>
            </a:r>
          </a:p>
        </p:txBody>
      </p:sp>
      <p:sp>
        <p:nvSpPr>
          <p:cNvPr id="23" name="Text 16"/>
          <p:cNvSpPr/>
          <p:nvPr/>
        </p:nvSpPr>
        <p:spPr>
          <a:xfrm>
            <a:off x="4635922" y="3518866"/>
            <a:ext cx="4011885" cy="82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廟方後端寫好報名後,再通知 Gateway:「這個人報好了,記得跟他講一聲。」Gateway 透過 LINE 發訊息:「您已成功報名 XX 活動。」整個流程閉環。從廟方上稿到信眾收到確認,LINE 跟 Web App 各司其職。</a:t>
            </a:r>
          </a:p>
        </p:txBody>
      </p:sp>
      <p:sp>
        <p:nvSpPr>
          <p:cNvPr id="24" name="EdgeCasesBG">
            <a:extLst>
              <a:ext uri="{FF2B5EF4-FFF2-40B4-BE49-F238E27FC236}">
                <a16:creationId xmlns:a16="http://schemas.microsoft.com/office/drawing/2014/main" id="{AE3398D8-8669-45E9-946E-C8A2EA82A9D0}"/>
              </a:ext>
            </a:extLst>
          </p:cNvPr>
          <p:cNvSpPr/>
          <p:nvPr/>
        </p:nvSpPr>
        <p:spPr>
          <a:xfrm>
            <a:off x="488503" y="4149079"/>
            <a:ext cx="8153400" cy="927618"/>
          </a:xfrm>
          <a:prstGeom prst="rect">
            <a:avLst/>
          </a:prstGeom>
          <a:solidFill>
            <a:srgbClr val="F0EDE7"/>
          </a:solidFill>
          <a:ln w="6350" cap="flat" cmpd="sng" algn="ctr">
            <a:solidFill>
              <a:srgbClr val="D9D5C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439F692-70D4-47C0-85DB-D423961DE79B}"/>
              </a:ext>
            </a:extLst>
          </p:cNvPr>
          <p:cNvSpPr txBox="1"/>
          <p:nvPr/>
        </p:nvSpPr>
        <p:spPr>
          <a:xfrm>
            <a:off x="571463" y="4218859"/>
            <a:ext cx="8001000" cy="230832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zh-TW" altLang="en-US" sz="900" b="1" dirty="0">
                <a:solidFill>
                  <a:srgbClr val="3A3A3A"/>
                </a:solidFill>
                <a:latin typeface="Noto Serif Medium"/>
                <a:cs typeface="Noto Serif Medium"/>
              </a:rPr>
              <a:t>⚠️ 出狀況的時候</a:t>
            </a:r>
            <a:r>
              <a:rPr lang="en-US" altLang="zh-TW" sz="900" b="1" dirty="0">
                <a:solidFill>
                  <a:srgbClr val="3A3A3A"/>
                </a:solidFill>
                <a:latin typeface="Noto Serif Medium"/>
                <a:ea typeface="Noto Serif Medium"/>
                <a:cs typeface="Noto Serif Medium"/>
              </a:rPr>
              <a:t>,</a:t>
            </a:r>
            <a:r>
              <a:rPr lang="zh-TW" altLang="en-US" sz="900" b="1" dirty="0">
                <a:solidFill>
                  <a:srgbClr val="3A3A3A"/>
                </a:solidFill>
                <a:latin typeface="Noto Serif Medium"/>
                <a:cs typeface="Noto Serif Medium"/>
              </a:rPr>
              <a:t>系統會怎麼回應</a:t>
            </a:r>
          </a:p>
        </p:txBody>
      </p:sp>
      <p:sp>
        <p:nvSpPr>
          <p:cNvPr id="26" name="EdgeBullets">
            <a:extLst>
              <a:ext uri="{FF2B5EF4-FFF2-40B4-BE49-F238E27FC236}">
                <a16:creationId xmlns:a16="http://schemas.microsoft.com/office/drawing/2014/main" id="{D504CA51-647D-418D-A810-6EE7E22ED764}"/>
              </a:ext>
            </a:extLst>
          </p:cNvPr>
          <p:cNvSpPr txBox="1"/>
          <p:nvPr/>
        </p:nvSpPr>
        <p:spPr>
          <a:xfrm>
            <a:off x="606183" y="4432075"/>
            <a:ext cx="800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 algn="l">
              <a:lnSpc>
                <a:spcPct val="125000"/>
              </a:lnSpc>
              <a:buFont typeface="Arial"/>
              <a:buChar char="•"/>
            </a:pPr>
            <a:r>
              <a:rPr lang="en-US" sz="800" dirty="0">
                <a:solidFill>
                  <a:srgbClr val="55555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信眾已經報過了 → Web App 顯示:「您已經報名過囉,可以到『我的報名』查看」</a:t>
            </a:r>
          </a:p>
          <a:p>
            <a:pPr marL="171450" indent="-171450" algn="l">
              <a:lnSpc>
                <a:spcPct val="125000"/>
              </a:lnSpc>
              <a:buFont typeface="Arial"/>
              <a:buChar char="•"/>
            </a:pPr>
            <a:r>
              <a:rPr lang="en-US" sz="800" dirty="0">
                <a:solidFill>
                  <a:srgbClr val="55555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名額滿了 → Web App 顯示:「這場已額滿,要看看其他活動嗎?」</a:t>
            </a:r>
          </a:p>
          <a:p>
            <a:pPr marL="171450" indent="-171450" algn="l">
              <a:lnSpc>
                <a:spcPct val="125000"/>
              </a:lnSpc>
              <a:buFont typeface="Arial"/>
              <a:buChar char="•"/>
            </a:pPr>
            <a:r>
              <a:rPr lang="en-US" sz="800" dirty="0">
                <a:solidFill>
                  <a:srgbClr val="55555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報名時間已過 → Web App 引導:「報名已截止,看看還能報名的活動」</a:t>
            </a:r>
          </a:p>
        </p:txBody>
      </p:sp>
    </p:spTree>
    <p:extLst>
      <p:ext uri="{BB962C8B-B14F-4D97-AF65-F5344CB8AC3E}">
        <p14:creationId xmlns:p14="http://schemas.microsoft.com/office/powerpoint/2010/main" val="1556264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255"/>
            <a:ext cx="34697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L3 信眾的帳號怎麼處理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977578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Demo 階段:大家都用 LINE 登入,不做註冊頁面</a:t>
            </a:r>
          </a:p>
        </p:txBody>
      </p:sp>
      <p:sp>
        <p:nvSpPr>
          <p:cNvPr id="4" name="Text 2"/>
          <p:cNvSpPr/>
          <p:nvPr/>
        </p:nvSpPr>
        <p:spPr>
          <a:xfrm>
            <a:off x="496119" y="1373460"/>
            <a:ext cx="221433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為什麼選強制 LINE Login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6119" y="1664122"/>
            <a:ext cx="3928914" cy="606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大家都用 LINE 進來,系統簡單(每個人都有 LINE 帳號可以辨識)</a:t>
            </a: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推播、關注、報名通知全部接得起來</a:t>
            </a: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不用花時間做 email 註冊頁、忘記密碼這些功能</a:t>
            </a:r>
          </a:p>
        </p:txBody>
      </p:sp>
      <p:sp>
        <p:nvSpPr>
          <p:cNvPr id="6" name="Text 4"/>
          <p:cNvSpPr/>
          <p:nvPr/>
        </p:nvSpPr>
        <p:spPr>
          <a:xfrm>
            <a:off x="496119" y="2372990"/>
            <a:ext cx="2940844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未來想加 email 註冊也行</a:t>
            </a:r>
          </a:p>
        </p:txBody>
      </p:sp>
      <p:sp>
        <p:nvSpPr>
          <p:cNvPr id="7" name="Text 5"/>
          <p:cNvSpPr/>
          <p:nvPr/>
        </p:nvSpPr>
        <p:spPr>
          <a:xfrm>
            <a:off x="496119" y="2663651"/>
            <a:ext cx="3928914" cy="606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使用者資料表的欄位已經為「未來加 email / 手機註冊」預留好</a:t>
            </a: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Demo 階段只用 LINE 帳號</a:t>
            </a: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之後想加 email 註冊,只要 Web App 加一個註冊頁面就好,LINE Gateway 那邊完全不用動</a:t>
            </a:r>
          </a:p>
        </p:txBody>
      </p:sp>
      <p:sp>
        <p:nvSpPr>
          <p:cNvPr id="8" name="Text 6"/>
          <p:cNvSpPr/>
          <p:nvPr/>
        </p:nvSpPr>
        <p:spPr>
          <a:xfrm>
            <a:off x="4723730" y="1373460"/>
            <a:ext cx="3980036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三個「關鍵時刻」是 LINE-Web 串接做好的具體展現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3730" y="1676921"/>
            <a:ext cx="3928914" cy="916781"/>
          </a:xfrm>
          <a:prstGeom prst="roundRect">
            <a:avLst>
              <a:gd name="adj" fmla="val 7481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443" y="1676921"/>
            <a:ext cx="57150" cy="916781"/>
          </a:xfrm>
          <a:prstGeom prst="roundRect">
            <a:avLst>
              <a:gd name="adj" fmla="val 88558"/>
            </a:avLst>
          </a:prstGeom>
          <a:solidFill>
            <a:srgbClr val="E6DED2"/>
          </a:solidFill>
          <a:ln/>
        </p:spPr>
      </p:sp>
      <p:sp>
        <p:nvSpPr>
          <p:cNvPr id="11" name="Text 9"/>
          <p:cNvSpPr/>
          <p:nvPr/>
        </p:nvSpPr>
        <p:spPr>
          <a:xfrm>
            <a:off x="4901357" y="1811685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① 首次跳轉自動登入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01357" y="2102346"/>
            <a:ext cx="361652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信眾第一次從 LINE 點進 Web App,會跑一次 LINE 登入流程(OAuth)。之後每次再從 LINE 跳進來,Web App 都已經認得他——感受是「直接打開就登入了」,不會反覆要求登入。</a:t>
            </a:r>
          </a:p>
        </p:txBody>
      </p:sp>
      <p:sp>
        <p:nvSpPr>
          <p:cNvPr id="13" name="Shape 11"/>
          <p:cNvSpPr/>
          <p:nvPr/>
        </p:nvSpPr>
        <p:spPr>
          <a:xfrm>
            <a:off x="4723730" y="2696096"/>
            <a:ext cx="3928914" cy="916781"/>
          </a:xfrm>
          <a:prstGeom prst="roundRect">
            <a:avLst>
              <a:gd name="adj" fmla="val 7481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443" y="2696096"/>
            <a:ext cx="57150" cy="916781"/>
          </a:xfrm>
          <a:prstGeom prst="roundRect">
            <a:avLst>
              <a:gd name="adj" fmla="val 88558"/>
            </a:avLst>
          </a:prstGeom>
          <a:solidFill>
            <a:srgbClr val="E6DED2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357" y="2830860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② 報名表單預填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01357" y="3121521"/>
            <a:ext cx="361652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使用者第一次報名時填的姓名、電話,系統會記住。下次報名,這些欄位自動填好。信眾感受是「系統記得我」。</a:t>
            </a:r>
          </a:p>
        </p:txBody>
      </p:sp>
      <p:sp>
        <p:nvSpPr>
          <p:cNvPr id="17" name="Shape 15"/>
          <p:cNvSpPr/>
          <p:nvPr/>
        </p:nvSpPr>
        <p:spPr>
          <a:xfrm>
            <a:off x="4723730" y="3715271"/>
            <a:ext cx="3928914" cy="916781"/>
          </a:xfrm>
          <a:prstGeom prst="roundRect">
            <a:avLst>
              <a:gd name="adj" fmla="val 7481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443" y="3715271"/>
            <a:ext cx="57150" cy="916781"/>
          </a:xfrm>
          <a:prstGeom prst="roundRect">
            <a:avLst>
              <a:gd name="adj" fmla="val 88558"/>
            </a:avLst>
          </a:prstGeom>
          <a:solidFill>
            <a:srgbClr val="E6DED2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357" y="3850035"/>
            <a:ext cx="2442716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③ 報名後收到 LINE 確認推播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01357" y="4140696"/>
            <a:ext cx="361652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報名送出後,LINE 會收到確認訊息。信眾感受是「事情真的辦好了」,不會擔心系統有沒有收到。</a:t>
            </a:r>
          </a:p>
        </p:txBody>
      </p:sp>
    </p:spTree>
    <p:extLst>
      <p:ext uri="{BB962C8B-B14F-4D97-AF65-F5344CB8AC3E}">
        <p14:creationId xmlns:p14="http://schemas.microsoft.com/office/powerpoint/2010/main" val="3922472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E251B09-250F-4AAD-A3C9-681B6EFB7AB5}"/>
              </a:ext>
            </a:extLst>
          </p:cNvPr>
          <p:cNvSpPr txBox="1"/>
          <p:nvPr/>
        </p:nvSpPr>
        <p:spPr>
          <a:xfrm>
            <a:off x="495300" y="2286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400" b="1">
                <a:solidFill>
                  <a:srgbClr val="3A3A3A"/>
                </a:solidFill>
                <a:latin typeface="Noto Serif Medium"/>
                <a:ea typeface="Noto Serif Medium"/>
                <a:cs typeface="Noto Serif Medium"/>
              </a:rPr>
              <a:t>LINE </a:t>
            </a:r>
            <a:r>
              <a:rPr lang="zh-TW" altLang="en-US" sz="2400" b="1">
                <a:solidFill>
                  <a:srgbClr val="3A3A3A"/>
                </a:solidFill>
                <a:latin typeface="Noto Serif Medium"/>
                <a:cs typeface="Noto Serif Medium"/>
              </a:rPr>
              <a:t>卡片設計原則</a:t>
            </a:r>
            <a:r>
              <a:rPr lang="en-US" altLang="zh-TW" sz="2400" b="1">
                <a:solidFill>
                  <a:srgbClr val="3A3A3A"/>
                </a:solidFill>
                <a:latin typeface="Noto Serif Medium"/>
                <a:ea typeface="Noto Serif Medium"/>
                <a:cs typeface="Noto Serif Medium"/>
              </a:rPr>
              <a:t>(V1 </a:t>
            </a:r>
            <a:r>
              <a:rPr lang="zh-TW" altLang="en-US" sz="2400" b="1">
                <a:solidFill>
                  <a:srgbClr val="3A3A3A"/>
                </a:solidFill>
                <a:latin typeface="Noto Serif Medium"/>
                <a:cs typeface="Noto Serif Medium"/>
              </a:rPr>
              <a:t>階段</a:t>
            </a:r>
            <a:r>
              <a:rPr lang="en-US" altLang="zh-TW" sz="2400" b="1">
                <a:solidFill>
                  <a:srgbClr val="3A3A3A"/>
                </a:solidFill>
                <a:latin typeface="Noto Serif Medium"/>
                <a:ea typeface="Noto Serif Medium"/>
                <a:cs typeface="Noto Serif Medium"/>
              </a:rPr>
              <a:t>)</a:t>
            </a:r>
            <a:endParaRPr lang="zh-TW" altLang="en-US" sz="2400" b="1">
              <a:solidFill>
                <a:srgbClr val="3A3A3A"/>
              </a:solidFill>
              <a:latin typeface="Noto Serif Medium"/>
              <a:cs typeface="Noto Serif Medium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F5E30A8-410A-4118-ABBA-7DD636504717}"/>
              </a:ext>
            </a:extLst>
          </p:cNvPr>
          <p:cNvSpPr txBox="1"/>
          <p:nvPr/>
        </p:nvSpPr>
        <p:spPr>
          <a:xfrm>
            <a:off x="495300" y="6096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6B6B6B"/>
                </a:solidFill>
                <a:latin typeface="Noto Serif"/>
                <a:cs typeface="Noto Serif"/>
              </a:rPr>
              <a:t>為什麼 </a:t>
            </a:r>
            <a:r>
              <a:rPr lang="en-US" altLang="zh-TW" sz="1400">
                <a:solidFill>
                  <a:srgbClr val="6B6B6B"/>
                </a:solidFill>
                <a:latin typeface="Noto Serif"/>
                <a:ea typeface="Noto Serif"/>
                <a:cs typeface="Noto Serif"/>
              </a:rPr>
              <a:t>V1 </a:t>
            </a:r>
            <a:r>
              <a:rPr lang="zh-TW" altLang="en-US" sz="1400">
                <a:solidFill>
                  <a:srgbClr val="6B6B6B"/>
                </a:solidFill>
                <a:latin typeface="Noto Serif"/>
                <a:cs typeface="Noto Serif"/>
              </a:rPr>
              <a:t>階段卡片要做到精美而克制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ADD0902-BFFA-4D76-815B-5B35DE3965C9}"/>
              </a:ext>
            </a:extLst>
          </p:cNvPr>
          <p:cNvSpPr/>
          <p:nvPr/>
        </p:nvSpPr>
        <p:spPr>
          <a:xfrm>
            <a:off x="495300" y="889000"/>
            <a:ext cx="254000" cy="254000"/>
          </a:xfrm>
          <a:prstGeom prst="ellipse">
            <a:avLst/>
          </a:prstGeom>
          <a:solidFill>
            <a:srgbClr val="8B6F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FFFFFF"/>
                </a:solidFill>
              </a:rPr>
              <a:t>1</a:t>
            </a:r>
            <a:endParaRPr lang="zh-TW" altLang="en-US" sz="1400" b="1">
              <a:solidFill>
                <a:srgbClr val="FFFFFF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9BDDD8-24A6-47BE-9B3B-D360ADD757D4}"/>
              </a:ext>
            </a:extLst>
          </p:cNvPr>
          <p:cNvSpPr txBox="1"/>
          <p:nvPr/>
        </p:nvSpPr>
        <p:spPr>
          <a:xfrm>
            <a:off x="1016000" y="914400"/>
            <a:ext cx="762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 b="1">
                <a:solidFill>
                  <a:srgbClr val="3A3A3A"/>
                </a:solidFill>
                <a:latin typeface="Noto Serif Medium"/>
                <a:cs typeface="Noto Serif Medium"/>
              </a:rPr>
              <a:t>少推但精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1C42B5D-A39A-49CA-939B-6172A270F832}"/>
              </a:ext>
            </a:extLst>
          </p:cNvPr>
          <p:cNvSpPr txBox="1"/>
          <p:nvPr/>
        </p:nvSpPr>
        <p:spPr>
          <a:xfrm>
            <a:off x="1016000" y="1117600"/>
            <a:ext cx="787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V1 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不做日常內容推播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,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只在真實事件發生時推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(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新活動、報名、節氣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)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。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6DD7D5C-BAE0-46F6-8213-129C62CB4C28}"/>
              </a:ext>
            </a:extLst>
          </p:cNvPr>
          <p:cNvSpPr/>
          <p:nvPr/>
        </p:nvSpPr>
        <p:spPr>
          <a:xfrm>
            <a:off x="495300" y="1295400"/>
            <a:ext cx="254000" cy="254000"/>
          </a:xfrm>
          <a:prstGeom prst="ellipse">
            <a:avLst/>
          </a:prstGeom>
          <a:solidFill>
            <a:srgbClr val="8B6F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FFFFFF"/>
                </a:solidFill>
              </a:rPr>
              <a:t>2</a:t>
            </a:r>
            <a:endParaRPr lang="zh-TW" altLang="en-US" sz="1400" b="1">
              <a:solidFill>
                <a:srgbClr val="FFFFFF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3E679BE-E17C-4487-A043-4A646E657B21}"/>
              </a:ext>
            </a:extLst>
          </p:cNvPr>
          <p:cNvSpPr txBox="1"/>
          <p:nvPr/>
        </p:nvSpPr>
        <p:spPr>
          <a:xfrm>
            <a:off x="1016000" y="1320800"/>
            <a:ext cx="762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 b="1">
                <a:solidFill>
                  <a:srgbClr val="3A3A3A"/>
                </a:solidFill>
                <a:latin typeface="Noto Serif Medium"/>
                <a:cs typeface="Noto Serif Medium"/>
              </a:rPr>
              <a:t>每張卡片都是 </a:t>
            </a:r>
            <a:r>
              <a:rPr lang="en-US" altLang="zh-TW" sz="1500" b="1">
                <a:solidFill>
                  <a:srgbClr val="3A3A3A"/>
                </a:solidFill>
                <a:latin typeface="Noto Serif Medium"/>
                <a:ea typeface="Noto Serif Medium"/>
                <a:cs typeface="Noto Serif Medium"/>
              </a:rPr>
              <a:t>Web App </a:t>
            </a:r>
            <a:r>
              <a:rPr lang="zh-TW" altLang="en-US" sz="1500" b="1">
                <a:solidFill>
                  <a:srgbClr val="3A3A3A"/>
                </a:solidFill>
                <a:latin typeface="Noto Serif Medium"/>
                <a:cs typeface="Noto Serif Medium"/>
              </a:rPr>
              <a:t>的招牌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A15C09A-7219-48E0-AA66-CA31268C2998}"/>
              </a:ext>
            </a:extLst>
          </p:cNvPr>
          <p:cNvSpPr txBox="1"/>
          <p:nvPr/>
        </p:nvSpPr>
        <p:spPr>
          <a:xfrm>
            <a:off x="1016000" y="1524000"/>
            <a:ext cx="787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精美的視覺、有重量的文案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,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值得使用者停下來看。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9C101207-5E52-489E-B067-58A1F7F11B40}"/>
              </a:ext>
            </a:extLst>
          </p:cNvPr>
          <p:cNvSpPr/>
          <p:nvPr/>
        </p:nvSpPr>
        <p:spPr>
          <a:xfrm>
            <a:off x="495300" y="1701800"/>
            <a:ext cx="254000" cy="254000"/>
          </a:xfrm>
          <a:prstGeom prst="ellipse">
            <a:avLst/>
          </a:prstGeom>
          <a:solidFill>
            <a:srgbClr val="8B6F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FFFFFF"/>
                </a:solidFill>
              </a:rPr>
              <a:t>3</a:t>
            </a:r>
            <a:endParaRPr lang="zh-TW" altLang="en-US" sz="1400" b="1">
              <a:solidFill>
                <a:srgbClr val="FFFFFF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5F9D2C-FD94-4EA1-BA91-F1BE7283A692}"/>
              </a:ext>
            </a:extLst>
          </p:cNvPr>
          <p:cNvSpPr txBox="1"/>
          <p:nvPr/>
        </p:nvSpPr>
        <p:spPr>
          <a:xfrm>
            <a:off x="1016000" y="1727200"/>
            <a:ext cx="762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 b="1">
                <a:solidFill>
                  <a:srgbClr val="3A3A3A"/>
                </a:solidFill>
                <a:latin typeface="Noto Serif Medium"/>
                <a:cs typeface="Noto Serif Medium"/>
              </a:rPr>
              <a:t>吸引力來自內容本身</a:t>
            </a:r>
            <a:r>
              <a:rPr lang="en-US" altLang="zh-TW" sz="1500" b="1">
                <a:solidFill>
                  <a:srgbClr val="3A3A3A"/>
                </a:solidFill>
                <a:latin typeface="Noto Serif Medium"/>
                <a:ea typeface="Noto Serif Medium"/>
                <a:cs typeface="Noto Serif Medium"/>
              </a:rPr>
              <a:t>,</a:t>
            </a:r>
            <a:r>
              <a:rPr lang="zh-TW" altLang="en-US" sz="1500" b="1">
                <a:solidFill>
                  <a:srgbClr val="3A3A3A"/>
                </a:solidFill>
                <a:latin typeface="Noto Serif Medium"/>
                <a:cs typeface="Noto Serif Medium"/>
              </a:rPr>
              <a:t>不是行銷話術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CA61635-F7F0-4342-93D8-BA8DD767B665}"/>
              </a:ext>
            </a:extLst>
          </p:cNvPr>
          <p:cNvSpPr txBox="1"/>
          <p:nvPr/>
        </p:nvSpPr>
        <p:spPr>
          <a:xfrm>
            <a:off x="1016000" y="1930400"/>
            <a:ext cx="787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❌「立即報名 →」    ✅「農曆三月廿三日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,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媽祖聖誕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,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三官寶殿祈福法會」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+ 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莊嚴的活動視覺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6ADE60C-ADFC-4E01-BF07-87E969B8D8DF}"/>
              </a:ext>
            </a:extLst>
          </p:cNvPr>
          <p:cNvSpPr/>
          <p:nvPr/>
        </p:nvSpPr>
        <p:spPr>
          <a:xfrm>
            <a:off x="495300" y="2108200"/>
            <a:ext cx="254000" cy="254000"/>
          </a:xfrm>
          <a:prstGeom prst="ellipse">
            <a:avLst/>
          </a:prstGeom>
          <a:solidFill>
            <a:srgbClr val="8B6F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FFFFFF"/>
                </a:solidFill>
              </a:rPr>
              <a:t>4</a:t>
            </a:r>
            <a:endParaRPr lang="zh-TW" altLang="en-US" sz="1400" b="1">
              <a:solidFill>
                <a:srgbClr val="FFFFFF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17A98E7-1AD8-4068-B0E3-1FC283337E3F}"/>
              </a:ext>
            </a:extLst>
          </p:cNvPr>
          <p:cNvSpPr txBox="1"/>
          <p:nvPr/>
        </p:nvSpPr>
        <p:spPr>
          <a:xfrm>
            <a:off x="1016000" y="2133600"/>
            <a:ext cx="762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500" b="1">
                <a:solidFill>
                  <a:srgbClr val="3A3A3A"/>
                </a:solidFill>
                <a:latin typeface="Noto Serif Medium"/>
                <a:cs typeface="Noto Serif Medium"/>
              </a:rPr>
              <a:t>成本控制是硬限制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0805E4-59D9-44DC-B326-B5D442830C98}"/>
              </a:ext>
            </a:extLst>
          </p:cNvPr>
          <p:cNvSpPr txBox="1"/>
          <p:nvPr/>
        </p:nvSpPr>
        <p:spPr>
          <a:xfrm>
            <a:off x="1016000" y="2336800"/>
            <a:ext cx="787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LINE 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推播按則計費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,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訂閱人數越多越貴</a:t>
            </a:r>
            <a:r>
              <a:rPr lang="en-US" altLang="zh-TW" sz="1200">
                <a:solidFill>
                  <a:srgbClr val="4C4C4C"/>
                </a:solidFill>
                <a:latin typeface="Noto Serif"/>
                <a:ea typeface="Noto Serif"/>
                <a:cs typeface="Noto Serif"/>
              </a:rPr>
              <a:t>,</a:t>
            </a:r>
            <a:r>
              <a:rPr lang="zh-TW" altLang="en-US" sz="1200">
                <a:solidFill>
                  <a:srgbClr val="4C4C4C"/>
                </a:solidFill>
                <a:latin typeface="Noto Serif"/>
                <a:cs typeface="Noto Serif"/>
              </a:rPr>
              <a:t>所以更要每一則都精準。</a:t>
            </a:r>
          </a:p>
        </p:txBody>
      </p:sp>
      <p:sp>
        <p:nvSpPr>
          <p:cNvPr id="101" name="MsgHeader"/>
          <p:cNvSpPr txBox="1"/>
          <p:nvPr/>
        </p:nvSpPr>
        <p:spPr>
          <a:xfrm>
            <a:off x="495300" y="2794000"/>
            <a:ext cx="762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1100" b="1">
                <a:solidFill>
                  <a:srgbClr val="3D2F1F"/>
                </a:solidFill>
                <a:latin typeface="Noto Serif"/>
                <a:ea typeface="Noto Serif"/>
              </a:rPr>
              <a:t>四種訊息類型</a:t>
            </a:r>
          </a:p>
        </p:txBody>
      </p:sp>
      <p:sp>
        <p:nvSpPr>
          <p:cNvPr id="102" name="TableBG"/>
          <p:cNvSpPr/>
          <p:nvPr/>
        </p:nvSpPr>
        <p:spPr>
          <a:xfrm>
            <a:off x="495300" y="3073400"/>
            <a:ext cx="8153400" cy="1447800"/>
          </a:xfrm>
          <a:prstGeom prst="roundRect">
            <a:avLst>
              <a:gd name="adj" fmla="val 8000"/>
            </a:avLst>
          </a:prstGeom>
          <a:solidFill>
            <a:srgbClr val="FDFBF7"/>
          </a:solidFill>
          <a:ln w="3175">
            <a:solidFill>
              <a:srgbClr val="E8DFD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H0"/>
          <p:cNvSpPr txBox="1"/>
          <p:nvPr/>
        </p:nvSpPr>
        <p:spPr>
          <a:xfrm>
            <a:off x="596900" y="31369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950" b="1">
                <a:solidFill>
                  <a:srgbClr val="3D2F1F"/>
                </a:solidFill>
                <a:latin typeface="Noto Serif"/>
                <a:ea typeface="Noto Serif"/>
              </a:rPr>
              <a:t>類型</a:t>
            </a:r>
          </a:p>
        </p:txBody>
      </p:sp>
      <p:sp>
        <p:nvSpPr>
          <p:cNvPr id="104" name="H1"/>
          <p:cNvSpPr txBox="1"/>
          <p:nvPr/>
        </p:nvSpPr>
        <p:spPr>
          <a:xfrm>
            <a:off x="1866900" y="3136900"/>
            <a:ext cx="14224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950" b="1">
                <a:solidFill>
                  <a:srgbClr val="3D2F1F"/>
                </a:solidFill>
                <a:latin typeface="Noto Serif"/>
                <a:ea typeface="Noto Serif"/>
              </a:rPr>
              <a:t>何時發</a:t>
            </a:r>
          </a:p>
        </p:txBody>
      </p:sp>
      <p:sp>
        <p:nvSpPr>
          <p:cNvPr id="105" name="H2"/>
          <p:cNvSpPr txBox="1"/>
          <p:nvPr/>
        </p:nvSpPr>
        <p:spPr>
          <a:xfrm>
            <a:off x="3390900" y="3136900"/>
            <a:ext cx="34544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950" b="1">
                <a:solidFill>
                  <a:srgbClr val="3D2F1F"/>
                </a:solidFill>
                <a:latin typeface="Noto Serif"/>
                <a:ea typeface="Noto Serif"/>
              </a:rPr>
              <a:t>內容</a:t>
            </a:r>
          </a:p>
        </p:txBody>
      </p:sp>
      <p:sp>
        <p:nvSpPr>
          <p:cNvPr id="106" name="H3"/>
          <p:cNvSpPr txBox="1"/>
          <p:nvPr/>
        </p:nvSpPr>
        <p:spPr>
          <a:xfrm>
            <a:off x="6946900" y="3136900"/>
            <a:ext cx="17018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950" b="1">
                <a:solidFill>
                  <a:srgbClr val="3D2F1F"/>
                </a:solidFill>
                <a:latin typeface="Noto Serif"/>
                <a:ea typeface="Noto Serif"/>
              </a:rPr>
              <a:t>跳轉行為</a:t>
            </a:r>
          </a:p>
        </p:txBody>
      </p:sp>
      <p:sp>
        <p:nvSpPr>
          <p:cNvPr id="107" name="HRule"/>
          <p:cNvSpPr/>
          <p:nvPr/>
        </p:nvSpPr>
        <p:spPr>
          <a:xfrm>
            <a:off x="596900" y="3352800"/>
            <a:ext cx="7950200" cy="12700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R0C0"/>
          <p:cNvSpPr txBox="1"/>
          <p:nvPr/>
        </p:nvSpPr>
        <p:spPr>
          <a:xfrm>
            <a:off x="596900" y="34036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歡迎卡片</a:t>
            </a:r>
          </a:p>
        </p:txBody>
      </p:sp>
      <p:sp>
        <p:nvSpPr>
          <p:cNvPr id="109" name="R0C1"/>
          <p:cNvSpPr txBox="1"/>
          <p:nvPr/>
        </p:nvSpPr>
        <p:spPr>
          <a:xfrm>
            <a:off x="1866900" y="3403600"/>
            <a:ext cx="1422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當次 follow</a:t>
            </a:r>
          </a:p>
        </p:txBody>
      </p:sp>
      <p:sp>
        <p:nvSpPr>
          <p:cNvPr id="110" name="R0C2"/>
          <p:cNvSpPr txBox="1"/>
          <p:nvPr/>
        </p:nvSpPr>
        <p:spPr>
          <a:xfrm>
            <a:off x="3390900" y="3403600"/>
            <a:ext cx="345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Hero 圖 + 歡迎短句 +「開始體驗」按鈕</a:t>
            </a:r>
          </a:p>
        </p:txBody>
      </p:sp>
      <p:sp>
        <p:nvSpPr>
          <p:cNvPr id="111" name="R0C3"/>
          <p:cNvSpPr txBox="1"/>
          <p:nvPr/>
        </p:nvSpPr>
        <p:spPr>
          <a:xfrm>
            <a:off x="6946900" y="3403600"/>
            <a:ext cx="1701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跳 Web App 首頁</a:t>
            </a:r>
          </a:p>
        </p:txBody>
      </p:sp>
      <p:sp>
        <p:nvSpPr>
          <p:cNvPr id="112" name="R1C0"/>
          <p:cNvSpPr txBox="1"/>
          <p:nvPr/>
        </p:nvSpPr>
        <p:spPr>
          <a:xfrm>
            <a:off x="596900" y="36830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新活動推播</a:t>
            </a:r>
          </a:p>
        </p:txBody>
      </p:sp>
      <p:sp>
        <p:nvSpPr>
          <p:cNvPr id="113" name="R1C1"/>
          <p:cNvSpPr txBox="1"/>
          <p:nvPr/>
        </p:nvSpPr>
        <p:spPr>
          <a:xfrm>
            <a:off x="1866900" y="3683000"/>
            <a:ext cx="1422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TEP 活動發布後</a:t>
            </a:r>
          </a:p>
        </p:txBody>
      </p:sp>
      <p:sp>
        <p:nvSpPr>
          <p:cNvPr id="114" name="R1C2"/>
          <p:cNvSpPr txBox="1"/>
          <p:nvPr/>
        </p:nvSpPr>
        <p:spPr>
          <a:xfrm>
            <a:off x="3390900" y="3683000"/>
            <a:ext cx="345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活動圖 + 名稱 + 時間 + 廟名 +「了解詳情」</a:t>
            </a:r>
          </a:p>
        </p:txBody>
      </p:sp>
      <p:sp>
        <p:nvSpPr>
          <p:cNvPr id="115" name="R1C3"/>
          <p:cNvSpPr txBox="1"/>
          <p:nvPr/>
        </p:nvSpPr>
        <p:spPr>
          <a:xfrm>
            <a:off x="6946900" y="3683000"/>
            <a:ext cx="1701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跳 Web App 活動詳情</a:t>
            </a:r>
          </a:p>
        </p:txBody>
      </p:sp>
      <p:sp>
        <p:nvSpPr>
          <p:cNvPr id="116" name="R2C0"/>
          <p:cNvSpPr txBox="1"/>
          <p:nvPr/>
        </p:nvSpPr>
        <p:spPr>
          <a:xfrm>
            <a:off x="596900" y="39624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報名確認</a:t>
            </a:r>
          </a:p>
        </p:txBody>
      </p:sp>
      <p:sp>
        <p:nvSpPr>
          <p:cNvPr id="117" name="R2C1"/>
          <p:cNvSpPr txBox="1"/>
          <p:nvPr/>
        </p:nvSpPr>
        <p:spPr>
          <a:xfrm>
            <a:off x="1866900" y="3962400"/>
            <a:ext cx="1422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信眾完成報名</a:t>
            </a:r>
          </a:p>
        </p:txBody>
      </p:sp>
      <p:sp>
        <p:nvSpPr>
          <p:cNvPr id="118" name="R2C2"/>
          <p:cNvSpPr txBox="1"/>
          <p:nvPr/>
        </p:nvSpPr>
        <p:spPr>
          <a:xfrm>
            <a:off x="3390900" y="3962400"/>
            <a:ext cx="345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「您已成功報名(活動)」+「查看我的報名」</a:t>
            </a:r>
          </a:p>
        </p:txBody>
      </p:sp>
      <p:sp>
        <p:nvSpPr>
          <p:cNvPr id="119" name="R2C3"/>
          <p:cNvSpPr txBox="1"/>
          <p:nvPr/>
        </p:nvSpPr>
        <p:spPr>
          <a:xfrm>
            <a:off x="6946900" y="3962400"/>
            <a:ext cx="1701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跳 Web App 我的報名</a:t>
            </a:r>
          </a:p>
        </p:txBody>
      </p:sp>
      <p:sp>
        <p:nvSpPr>
          <p:cNvPr id="120" name="R3C0"/>
          <p:cNvSpPr txBox="1"/>
          <p:nvPr/>
        </p:nvSpPr>
        <p:spPr>
          <a:xfrm>
            <a:off x="596900" y="42418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活動提醒</a:t>
            </a:r>
          </a:p>
        </p:txBody>
      </p:sp>
      <p:sp>
        <p:nvSpPr>
          <p:cNvPr id="121" name="R3C1"/>
          <p:cNvSpPr txBox="1"/>
          <p:nvPr/>
        </p:nvSpPr>
        <p:spPr>
          <a:xfrm>
            <a:off x="1866900" y="4241800"/>
            <a:ext cx="1422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活動前約 24 小時</a:t>
            </a:r>
          </a:p>
        </p:txBody>
      </p:sp>
      <p:sp>
        <p:nvSpPr>
          <p:cNvPr id="122" name="R3C2"/>
          <p:cNvSpPr txBox="1"/>
          <p:nvPr/>
        </p:nvSpPr>
        <p:spPr>
          <a:xfrm>
            <a:off x="3390900" y="4241800"/>
            <a:ext cx="345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「明天(時間)是您報名的(活動)」+「查看詳情」</a:t>
            </a:r>
          </a:p>
        </p:txBody>
      </p:sp>
      <p:sp>
        <p:nvSpPr>
          <p:cNvPr id="123" name="R3C3"/>
          <p:cNvSpPr txBox="1"/>
          <p:nvPr/>
        </p:nvSpPr>
        <p:spPr>
          <a:xfrm>
            <a:off x="6946900" y="4241800"/>
            <a:ext cx="1701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50">
                <a:solidFill>
                  <a:srgbClr val="4C4C4C"/>
                </a:solidFill>
                <a:latin typeface="Noto Serif"/>
                <a:ea typeface="Noto Serif"/>
              </a:rPr>
              <a:t>跳 Web App 活動詳情</a:t>
            </a:r>
          </a:p>
        </p:txBody>
      </p:sp>
      <p:sp>
        <p:nvSpPr>
          <p:cNvPr id="124" name="Footnote"/>
          <p:cNvSpPr txBox="1"/>
          <p:nvPr/>
        </p:nvSpPr>
        <p:spPr>
          <a:xfrm>
            <a:off x="495300" y="4622800"/>
            <a:ext cx="81534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TW" sz="800">
                <a:solidFill>
                  <a:srgbClr val="8A7A5E"/>
                </a:solidFill>
                <a:latin typeface="Noto Serif"/>
                <a:ea typeface="Noto Serif"/>
              </a:rPr>
              <a:t>📋 下一頁(P16):每張卡片對應的視覺資產與設計要求</a:t>
            </a:r>
          </a:p>
        </p:txBody>
      </p:sp>
    </p:spTree>
    <p:extLst>
      <p:ext uri="{BB962C8B-B14F-4D97-AF65-F5344CB8AC3E}">
        <p14:creationId xmlns:p14="http://schemas.microsoft.com/office/powerpoint/2010/main" val="1583017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6285"/>
            <a:ext cx="3800549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Web App 還缺什麼?</a:t>
            </a:r>
          </a:p>
        </p:txBody>
      </p:sp>
      <p:sp>
        <p:nvSpPr>
          <p:cNvPr id="4" name="Shape 2"/>
          <p:cNvSpPr/>
          <p:nvPr/>
        </p:nvSpPr>
        <p:spPr>
          <a:xfrm>
            <a:off x="496119" y="1391096"/>
            <a:ext cx="2648992" cy="1277689"/>
          </a:xfrm>
          <a:prstGeom prst="roundRect">
            <a:avLst>
              <a:gd name="adj" fmla="val 3961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882" y="1525860"/>
            <a:ext cx="2263676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廟宇相關（多廟設計核心）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0882" y="1775520"/>
            <a:ext cx="2379464" cy="75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已有：廟宇列表、詳情、3D 參拜引導、附近廟宇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🆕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要新增：現場資訊頁、文化歷史頁、關注此廟按鈕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7504" y="1391096"/>
            <a:ext cx="2648992" cy="1277689"/>
          </a:xfrm>
          <a:prstGeom prst="roundRect">
            <a:avLst>
              <a:gd name="adj" fmla="val 3961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2268" y="1525860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神明相關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2268" y="1775520"/>
            <a:ext cx="2379464" cy="361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已有：神明速查列表、詳情（10 筆完整）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98890" y="1391096"/>
            <a:ext cx="2648992" cy="1277689"/>
          </a:xfrm>
          <a:prstGeom prst="roundRect">
            <a:avLst>
              <a:gd name="adj" fmla="val 3961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33654" y="1525860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活動 / 報名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33654" y="1775520"/>
            <a:ext cx="2379464" cy="361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🆕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要新增：活動列表、活動詳情、報名表單、我的報名、報名詳情/取消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2771180"/>
            <a:ext cx="4024685" cy="1099393"/>
          </a:xfrm>
          <a:prstGeom prst="roundRect">
            <a:avLst>
              <a:gd name="adj" fmla="val 4604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882" y="2905944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內容 / 知識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882" y="3155603"/>
            <a:ext cx="3755157" cy="40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已有：拜拜指南列表、指南文章詳情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🆕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要新增：祈求詞頁、籤詩頁（建議放在廟宇下子頁）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3197" y="2771180"/>
            <a:ext cx="4024685" cy="1099393"/>
          </a:xfrm>
          <a:prstGeom prst="roundRect">
            <a:avLst>
              <a:gd name="adj" fmla="val 4604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7961" y="2905944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系統 / 帳號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7961" y="3155603"/>
            <a:ext cx="3755157" cy="580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已有：首頁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🆕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要新增：LINE Login 回調、個人資料、關注的廟、關於我們、加入我們、搜尋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3985766"/>
            <a:ext cx="8151763" cy="641375"/>
          </a:xfrm>
          <a:prstGeom prst="roundRect">
            <a:avLst>
              <a:gd name="adj" fmla="val 7891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5" y="4164211"/>
            <a:ext cx="150614" cy="1204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87685" y="4118223"/>
            <a:ext cx="763972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祈求詞 / 籤詩放在哪?建議做成「廟宇下的子頁」——也就是進入某間廟之後才看得到那間廟的祈求詞、籤詩。理由:不同廟的神明不同,本來就該綁定廟。這樣未來加新的廟,也會自動有自己的祈求詞。</a:t>
            </a:r>
          </a:p>
        </p:txBody>
      </p:sp>
    </p:spTree>
    <p:extLst>
      <p:ext uri="{BB962C8B-B14F-4D97-AF65-F5344CB8AC3E}">
        <p14:creationId xmlns:p14="http://schemas.microsoft.com/office/powerpoint/2010/main" val="413182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52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737B65-9A99-470C-BC30-3E669642ADE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363f047-eb28-4b4c-a810-771cff1e6ec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1887</Words>
  <Application>Microsoft Office PowerPoint</Application>
  <PresentationFormat>如螢幕大小 (16:9)</PresentationFormat>
  <Paragraphs>367</Paragraphs>
  <Slides>16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Noto Serif</vt:lpstr>
      <vt:lpstr>Noto Serif Medium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識瑋 邱</cp:lastModifiedBy>
  <cp:revision>5</cp:revision>
  <dcterms:created xsi:type="dcterms:W3CDTF">2026-05-16T17:41:48Z</dcterms:created>
  <dcterms:modified xsi:type="dcterms:W3CDTF">2026-05-19T10:10:38Z</dcterms:modified>
</cp:coreProperties>
</file>